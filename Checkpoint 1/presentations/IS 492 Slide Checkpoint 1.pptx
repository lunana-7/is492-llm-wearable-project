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5B8082A-BEAB-418D-B756-14B050A1AF27}">
  <a:tblStyle styleId="{E5B8082A-BEAB-418D-B756-14B050A1AF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49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b2bfa160a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7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fb2bfa160a_0_158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 seconds. Project title, team members and roles, GitHub repo link. Keep it fast.</a:t>
            </a:r>
            <a:endParaRPr/>
          </a:p>
        </p:txBody>
      </p:sp>
      <p:sp>
        <p:nvSpPr>
          <p:cNvPr id="55" name="Google Shape;55;g3fb2bfa160a_0_158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1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b2bfa160a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7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3fb2bfa160a_0_171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minute. Start with the human pain point: employees meet too many people to remember. Then why now: AI makes hands-free recall possible.</a:t>
            </a:r>
            <a:endParaRPr/>
          </a:p>
        </p:txBody>
      </p:sp>
      <p:sp>
        <p:nvSpPr>
          <p:cNvPr id="70" name="Google Shape;70;g3fb2bfa160a_0_171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2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b2bfa160a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7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3fb2bfa160a_0_189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minute. Three personas, three core tasks, and the success definition: user, task, outcome.</a:t>
            </a:r>
            <a:endParaRPr/>
          </a:p>
        </p:txBody>
      </p:sp>
      <p:sp>
        <p:nvSpPr>
          <p:cNvPr id="92" name="Google Shape;92;g3fb2bfa160a_0_189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3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b2bfa160a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7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fb2bfa160a_0_216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to 1.5 minutes. Each existing tool solves one piece; none closes the loop hands-free at the moment of service. Connect to /literature/.</a:t>
            </a:r>
            <a:endParaRPr/>
          </a:p>
        </p:txBody>
      </p:sp>
      <p:sp>
        <p:nvSpPr>
          <p:cNvPr id="111" name="Google Shape;111;g3fb2bfa160a_0_216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4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b2bfa160a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7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fb2bfa160a_0_242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Always-on visual sensing creates severe bystander privacy concerns, power imbalances, and lack of transparency regarding facial recognition and undetected recording(Liu et al.)(Cheng et al.)</a:t>
            </a:r>
            <a:endParaRPr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→ our consent-first database architecture where facial embeddings are compared strictly against pre-enrolled, opted-in profiles with explicit user deletion rights(Liu et al.)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Wearable AI is shifting from passive screen-mirroring displays to proactive agentic reasoners that continuously infer latent context and user intent to assist in real-time interactions(Wang et al.)(Liu et al.)</a:t>
            </a:r>
            <a:endParaRPr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→ our agentic retrieval pipeline that automatically surfaces regular orders, roles, and past conversation summaries hands-free without stopping to manually search a database(Liu et al.)(Yang et al.)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Head-mounted displays offer superior technological embodiment over handheld screens by lowering mental intangibility and enhancing decision comfort, but require multi-posture, non-intrusive input methods for physical work environments(Fang et al.)(Pfeifer et al.) </a:t>
            </a:r>
            <a:endParaRPr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→ our hands-free heads-up display and audio interface that preserves natural eye contact while providing quick, subtle input modes to confirm or dismiss customer profile lookups(Fang et al.)(Pfeifer et al.)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Executing continuous computer vision and generative AI on wearable hardware causes severe thermal, battery, and compute bottlenecks, requiring split runtimes and on-demand sensor triggers(Wang et al.)(Yang et al.)</a:t>
            </a:r>
            <a:endParaRPr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→ our split-edge architecture offloading facial embedding and database lookups to an external compute node with event-driven capture triggers(Wang et al.)(Liu et al.)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0" name="Google Shape;140;g3fb2bfa160a_0_242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5</a:t>
            </a:fld>
            <a:endParaRPr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2bfa160a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7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3fb2bfa160a_0_266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to 1.5 minutes. Walk the pipeline left to right, then land the point: GenAI is functionally essential — embeddings, speech, and summarization are the product, not decoration.</a:t>
            </a:r>
            <a:endParaRPr/>
          </a:p>
        </p:txBody>
      </p:sp>
      <p:sp>
        <p:nvSpPr>
          <p:cNvPr id="163" name="Google Shape;163;g3fb2bfa160a_0_266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6</a:t>
            </a:fld>
            <a:endParaRPr sz="9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b2bfa160a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7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g3fb2bfa160a_0_295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30–45 seconds. What Checkpoint 2 validates, the biggest risks, and immediate next steps. End on the ask/close.</a:t>
            </a:r>
            <a:endParaRPr/>
          </a:p>
        </p:txBody>
      </p:sp>
      <p:sp>
        <p:nvSpPr>
          <p:cNvPr id="192" name="Google Shape;192;g3fb2bfa160a_0_295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7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6410479" y="-388903"/>
            <a:ext cx="3429000" cy="3429000"/>
          </a:xfrm>
          <a:prstGeom prst="ellipse">
            <a:avLst/>
          </a:prstGeom>
          <a:noFill/>
          <a:ln w="228600" cap="flat" cmpd="sng">
            <a:solidFill>
              <a:srgbClr val="D9F24F">
                <a:alpha val="14120"/>
              </a:srgbClr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523866" y="435421"/>
            <a:ext cx="142800" cy="142800"/>
          </a:xfrm>
          <a:prstGeom prst="ellipse">
            <a:avLst/>
          </a:prstGeom>
          <a:noFill/>
          <a:ln w="31300" cap="flat" cmpd="sng">
            <a:solidFill>
              <a:srgbClr val="D9F2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523866" y="1321383"/>
            <a:ext cx="8905800" cy="8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74511"/>
              </a:lnSpc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6800"/>
              <a:buFont typeface="Space Grotesk"/>
              <a:buNone/>
            </a:pPr>
            <a:r>
              <a:rPr lang="en" sz="6800" b="1" dirty="0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6800" b="1" i="0" u="none" strike="noStrike" cap="none" dirty="0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ontext</a:t>
            </a:r>
            <a:r>
              <a:rPr lang="en" sz="6800" b="1" i="0" u="none" strike="noStrike" cap="none" dirty="0">
                <a:solidFill>
                  <a:srgbClr val="D9F24F"/>
                </a:solidFill>
                <a:latin typeface="Roboto"/>
                <a:ea typeface="Roboto"/>
                <a:cs typeface="Roboto"/>
                <a:sym typeface="Roboto"/>
              </a:rPr>
              <a:t>Lens</a:t>
            </a:r>
            <a:endParaRPr sz="68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523866" y="2278632"/>
            <a:ext cx="5886600" cy="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7623"/>
              </a:lnSpc>
              <a:spcBef>
                <a:spcPts val="0"/>
              </a:spcBef>
              <a:spcAft>
                <a:spcPts val="0"/>
              </a:spcAft>
              <a:buClr>
                <a:srgbClr val="B8BFBB"/>
              </a:buClr>
              <a:buSzPts val="1500"/>
              <a:buFont typeface="IBM Plex Sans"/>
              <a:buNone/>
            </a:pPr>
            <a:r>
              <a:rPr lang="en" sz="16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"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wearable AI </a:t>
            </a:r>
            <a:r>
              <a:rPr lang="en" sz="16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agent</a:t>
            </a:r>
            <a:r>
              <a:rPr lang="en" sz="16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that helps </a:t>
            </a:r>
            <a:r>
              <a:rPr lang="en"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service employees</a:t>
            </a:r>
            <a:r>
              <a:rPr lang="en" sz="16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recognize customers and deliver faster, more personal interaction</a:t>
            </a:r>
            <a:endParaRPr sz="160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13042" y="3717518"/>
            <a:ext cx="29220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F24F"/>
              </a:buClr>
              <a:buSzPts val="900"/>
              <a:buFont typeface="IBM Plex Mono"/>
              <a:buNone/>
            </a:pPr>
            <a:r>
              <a:rPr lang="en" sz="900" b="1" i="0" u="none" strike="noStrike" cap="none">
                <a:solidFill>
                  <a:srgbClr val="D9F24F"/>
                </a:solidFill>
                <a:latin typeface="Roboto"/>
                <a:ea typeface="Roboto"/>
                <a:cs typeface="Roboto"/>
                <a:sym typeface="Roboto"/>
              </a:rPr>
              <a:t>TEAM</a:t>
            </a:r>
            <a:endParaRPr sz="9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513051" y="3942386"/>
            <a:ext cx="2736000" cy="8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lvl="0" indent="0" algn="l" rtl="0">
              <a:lnSpc>
                <a:spcPct val="132717"/>
              </a:lnSpc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1000"/>
              <a:buFont typeface="IBM Plex Sans"/>
              <a:buNone/>
            </a:pPr>
            <a:r>
              <a:rPr lang="en" sz="1000" b="1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Aman </a:t>
            </a:r>
            <a:r>
              <a:rPr lang="en" sz="1000">
                <a:solidFill>
                  <a:srgbClr val="9AA39E"/>
                </a:solidFill>
                <a:latin typeface="Roboto"/>
                <a:ea typeface="Roboto"/>
                <a:cs typeface="Roboto"/>
                <a:sym typeface="Roboto"/>
              </a:rPr>
              <a:t>recognition, backend, speech, testing </a:t>
            </a:r>
            <a:br>
              <a:rPr lang="en" sz="1000" i="0" u="none" strike="noStrike" cap="none">
                <a:solidFill>
                  <a:srgbClr val="9AA39E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 b="1" i="0" u="none" strike="noStrike" cap="none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Neha</a:t>
            </a:r>
            <a:r>
              <a:rPr lang="en" sz="1000" b="1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00" i="0" u="none" strike="noStrike" cap="none">
                <a:solidFill>
                  <a:srgbClr val="9AA39E"/>
                </a:solidFill>
                <a:latin typeface="Roboto"/>
                <a:ea typeface="Roboto"/>
                <a:cs typeface="Roboto"/>
                <a:sym typeface="Roboto"/>
              </a:rPr>
              <a:t> frontend &amp; user interface</a:t>
            </a:r>
            <a:endParaRPr sz="1000" i="0" u="none" strike="noStrike" cap="none">
              <a:solidFill>
                <a:srgbClr val="9AA39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32717"/>
              </a:lnSpc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1000"/>
              <a:buFont typeface="IBM Plex Sans"/>
              <a:buNone/>
            </a:pPr>
            <a:r>
              <a:rPr lang="en" sz="1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Steven</a:t>
            </a:r>
            <a:r>
              <a:rPr lang="en" sz="1000" b="1">
                <a:solidFill>
                  <a:srgbClr val="9AA39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00">
                <a:solidFill>
                  <a:srgbClr val="9AA39E"/>
                </a:solidFill>
                <a:latin typeface="Roboto"/>
                <a:ea typeface="Roboto"/>
                <a:cs typeface="Roboto"/>
                <a:sym typeface="Roboto"/>
              </a:rPr>
              <a:t>wearable hardware &amp; integration </a:t>
            </a:r>
            <a:endParaRPr sz="1000">
              <a:solidFill>
                <a:srgbClr val="9AA39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32717"/>
              </a:lnSpc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1000"/>
              <a:buFont typeface="IBM Plex Sans"/>
              <a:buNone/>
            </a:pPr>
            <a:r>
              <a:rPr lang="en" sz="1000" b="1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Min </a:t>
            </a:r>
            <a:r>
              <a:rPr lang="en" sz="1000">
                <a:solidFill>
                  <a:srgbClr val="9AA39E"/>
                </a:solidFill>
                <a:latin typeface="Roboto"/>
                <a:ea typeface="Roboto"/>
                <a:cs typeface="Roboto"/>
                <a:sym typeface="Roboto"/>
              </a:rPr>
              <a:t> project planning &amp; research</a:t>
            </a:r>
            <a:endParaRPr sz="1000">
              <a:solidFill>
                <a:srgbClr val="9AA3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5301600" y="4410675"/>
            <a:ext cx="3230700" cy="365100"/>
          </a:xfrm>
          <a:prstGeom prst="roundRect">
            <a:avLst>
              <a:gd name="adj" fmla="val 14974"/>
            </a:avLst>
          </a:prstGeom>
          <a:solidFill>
            <a:srgbClr val="1C201E"/>
          </a:solidFill>
          <a:ln w="7825" cap="flat" cmpd="sng">
            <a:solidFill>
              <a:srgbClr val="2E34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5531775" y="4509375"/>
            <a:ext cx="43077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900"/>
              <a:buFont typeface="IBM Plex Mono"/>
              <a:buNone/>
            </a:pPr>
            <a:r>
              <a:rPr lang="en" sz="900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https://github.com/lunana-7/is492-llm-wearable-project</a:t>
            </a:r>
            <a:endParaRPr sz="9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6872479" y="-627003"/>
            <a:ext cx="3429000" cy="3429000"/>
          </a:xfrm>
          <a:prstGeom prst="ellipse">
            <a:avLst/>
          </a:prstGeom>
          <a:noFill/>
          <a:ln w="228600" cap="flat" cmpd="sng">
            <a:solidFill>
              <a:srgbClr val="D9F24F">
                <a:alpha val="14120"/>
              </a:srgbClr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7445554" y="-896378"/>
            <a:ext cx="3429000" cy="3429000"/>
          </a:xfrm>
          <a:prstGeom prst="ellipse">
            <a:avLst/>
          </a:prstGeom>
          <a:noFill/>
          <a:ln w="228600" cap="flat" cmpd="sng">
            <a:solidFill>
              <a:srgbClr val="D9F24F">
                <a:alpha val="14120"/>
              </a:srgbClr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F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 descr="create an image of the receptionist struggling"/>
          <p:cNvPicPr preferRelativeResize="0"/>
          <p:nvPr/>
        </p:nvPicPr>
        <p:blipFill rotWithShape="1">
          <a:blip r:embed="rId3">
            <a:alphaModFix/>
          </a:blip>
          <a:srcRect l="1643" t="24454" b="4929"/>
          <a:stretch/>
        </p:blipFill>
        <p:spPr>
          <a:xfrm>
            <a:off x="6004312" y="1694575"/>
            <a:ext cx="2610001" cy="187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 descr="create the image of the receptionist having hard tiem recalling the visitors and people"/>
          <p:cNvPicPr preferRelativeResize="0"/>
          <p:nvPr/>
        </p:nvPicPr>
        <p:blipFill rotWithShape="1">
          <a:blip r:embed="rId4">
            <a:alphaModFix/>
          </a:blip>
          <a:srcRect t="28285"/>
          <a:stretch/>
        </p:blipFill>
        <p:spPr>
          <a:xfrm>
            <a:off x="3267050" y="1695575"/>
            <a:ext cx="2610001" cy="18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/>
          <p:nvPr/>
        </p:nvSpPr>
        <p:spPr>
          <a:xfrm>
            <a:off x="523866" y="428614"/>
            <a:ext cx="89058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6"/>
              </a:buClr>
              <a:buSzPts val="900"/>
              <a:buFont typeface="IBM Plex Mono"/>
              <a:buNone/>
            </a:pPr>
            <a:r>
              <a:rPr lang="en" sz="900" b="1" i="0" u="none" strike="noStrike" cap="none">
                <a:solidFill>
                  <a:srgbClr val="5B6B66"/>
                </a:solidFill>
                <a:latin typeface="Roboto"/>
                <a:ea typeface="Roboto"/>
                <a:cs typeface="Roboto"/>
                <a:sym typeface="Roboto"/>
              </a:rPr>
              <a:t>02 · PROBLEM &amp; MOTIVATION</a:t>
            </a:r>
            <a:endParaRPr sz="9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523866" y="672512"/>
            <a:ext cx="73581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82158"/>
              </a:lnSpc>
              <a:spcBef>
                <a:spcPts val="0"/>
              </a:spcBef>
              <a:spcAft>
                <a:spcPts val="0"/>
              </a:spcAft>
              <a:buClr>
                <a:srgbClr val="15211E"/>
              </a:buClr>
              <a:buSzPts val="3200"/>
              <a:buFont typeface="Space Grotesk"/>
              <a:buNone/>
            </a:pPr>
            <a:r>
              <a:rPr lang="en" sz="3200" b="1" i="0" u="none" strike="noStrike" cap="none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You've served them 50 times. </a:t>
            </a:r>
            <a:endParaRPr sz="3200" b="1" i="0" u="none" strike="noStrike" cap="none">
              <a:solidFill>
                <a:srgbClr val="15211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82158"/>
              </a:lnSpc>
              <a:spcBef>
                <a:spcPts val="0"/>
              </a:spcBef>
              <a:spcAft>
                <a:spcPts val="0"/>
              </a:spcAft>
              <a:buClr>
                <a:srgbClr val="15211E"/>
              </a:buClr>
              <a:buSzPts val="3200"/>
              <a:buFont typeface="Space Grotesk"/>
              <a:buNone/>
            </a:pPr>
            <a:r>
              <a:rPr lang="en" sz="3200" b="1" i="0" u="none" strike="noStrike" cap="none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You still don't know their </a:t>
            </a:r>
            <a:r>
              <a:rPr lang="en" sz="3200" b="1" i="0" u="none" strike="noStrike" cap="none">
                <a:solidFill>
                  <a:srgbClr val="15211E"/>
                </a:solidFill>
                <a:highlight>
                  <a:srgbClr val="D9F24F"/>
                </a:highlight>
                <a:latin typeface="Roboto"/>
                <a:ea typeface="Roboto"/>
                <a:cs typeface="Roboto"/>
                <a:sym typeface="Roboto"/>
              </a:rPr>
              <a:t>name</a:t>
            </a:r>
            <a:r>
              <a:rPr lang="en" sz="3200" b="1" i="0" u="none" strike="noStrike" cap="none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32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3267060" y="2797403"/>
            <a:ext cx="2610000" cy="1213500"/>
          </a:xfrm>
          <a:prstGeom prst="roundRect">
            <a:avLst>
              <a:gd name="adj" fmla="val 6280"/>
            </a:avLst>
          </a:prstGeom>
          <a:solidFill>
            <a:srgbClr val="FFFFFF"/>
          </a:solidFill>
          <a:ln w="7825" cap="flat" cmpd="sng">
            <a:solidFill>
              <a:srgbClr val="E2E1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465349" y="2995692"/>
            <a:ext cx="24348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1E"/>
              </a:buClr>
              <a:buSzPts val="1200"/>
              <a:buFont typeface="Space Grotesk"/>
              <a:buNone/>
            </a:pPr>
            <a:r>
              <a:rPr lang="en" sz="1200" b="1" i="0" u="none" strike="noStrike" cap="none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The event staffer</a:t>
            </a:r>
            <a:endParaRPr sz="12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3465349" y="3255363"/>
            <a:ext cx="22797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14845"/>
              </a:lnSpc>
              <a:spcBef>
                <a:spcPts val="0"/>
              </a:spcBef>
              <a:spcAft>
                <a:spcPts val="0"/>
              </a:spcAft>
              <a:buClr>
                <a:srgbClr val="3B4A46"/>
              </a:buClr>
              <a:buSzPts val="1000"/>
              <a:buFont typeface="IBM Plex Sans"/>
              <a:buNone/>
            </a:pPr>
            <a:r>
              <a:rPr lang="en" sz="1000" i="0" u="none" strike="noStrike" cap="none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Meets hundreds of attendees in a day and </a:t>
            </a:r>
            <a:r>
              <a:rPr lang="en" sz="1000" i="0" u="none" strike="noStrike" cap="none">
                <a:solidFill>
                  <a:srgbClr val="3B4A46"/>
                </a:solidFill>
                <a:highlight>
                  <a:srgbClr val="EFFF95"/>
                </a:highlight>
                <a:latin typeface="Roboto"/>
                <a:ea typeface="Roboto"/>
                <a:cs typeface="Roboto"/>
                <a:sym typeface="Roboto"/>
              </a:rPr>
              <a:t>can't recall a single previous conversation.</a:t>
            </a:r>
            <a:endParaRPr sz="1000" i="0" u="none" strike="noStrike" cap="none">
              <a:solidFill>
                <a:schemeClr val="dk1"/>
              </a:solidFill>
              <a:highlight>
                <a:srgbClr val="EFFF95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6010254" y="2797403"/>
            <a:ext cx="2610000" cy="1213500"/>
          </a:xfrm>
          <a:prstGeom prst="roundRect">
            <a:avLst>
              <a:gd name="adj" fmla="val 6280"/>
            </a:avLst>
          </a:prstGeom>
          <a:solidFill>
            <a:srgbClr val="FFFFFF"/>
          </a:solidFill>
          <a:ln w="7825" cap="flat" cmpd="sng">
            <a:solidFill>
              <a:srgbClr val="E2E1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6208543" y="2995692"/>
            <a:ext cx="24348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1E"/>
              </a:buClr>
              <a:buSzPts val="1200"/>
              <a:buFont typeface="Space Grotesk"/>
              <a:buNone/>
            </a:pPr>
            <a:r>
              <a:rPr lang="en" sz="1200" b="1" i="0" u="none" strike="noStrike" cap="none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The receptionist</a:t>
            </a:r>
            <a:endParaRPr sz="12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6208543" y="3255363"/>
            <a:ext cx="22797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14845"/>
              </a:lnSpc>
              <a:spcBef>
                <a:spcPts val="0"/>
              </a:spcBef>
              <a:spcAft>
                <a:spcPts val="0"/>
              </a:spcAft>
              <a:buClr>
                <a:srgbClr val="3B4A46"/>
              </a:buClr>
              <a:buSzPts val="1000"/>
              <a:buFont typeface="IBM Plex Sans"/>
              <a:buNone/>
            </a:pPr>
            <a:r>
              <a:rPr lang="en" sz="1000" i="0" u="none" strike="noStrike" cap="none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Stops working, opens a database, and searches </a:t>
            </a:r>
            <a:r>
              <a:rPr lang="en" sz="1000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en" sz="1000" i="0" u="none" strike="noStrike" cap="none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 while </a:t>
            </a:r>
            <a:r>
              <a:rPr lang="en" sz="1000" i="0" u="none" strike="noStrike" cap="none">
                <a:solidFill>
                  <a:srgbClr val="3B4A46"/>
                </a:solidFill>
                <a:highlight>
                  <a:srgbClr val="EFFF95"/>
                </a:highlight>
                <a:latin typeface="Roboto"/>
                <a:ea typeface="Roboto"/>
                <a:cs typeface="Roboto"/>
                <a:sym typeface="Roboto"/>
              </a:rPr>
              <a:t>the visitor stands and waits</a:t>
            </a:r>
            <a:r>
              <a:rPr lang="en" sz="1000" i="0" u="none" strike="noStrike" cap="none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523850" y="4224124"/>
            <a:ext cx="8096400" cy="669000"/>
          </a:xfrm>
          <a:prstGeom prst="roundRect">
            <a:avLst>
              <a:gd name="adj" fmla="val 10370"/>
            </a:avLst>
          </a:prstGeom>
          <a:solidFill>
            <a:srgbClr val="15211E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722152" y="4421624"/>
            <a:ext cx="11553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1300"/>
              <a:buFont typeface="Space Grotesk"/>
              <a:buNone/>
            </a:pPr>
            <a:r>
              <a:rPr lang="en" sz="1500" b="1" i="0" u="none" strike="noStrike" cap="none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Why </a:t>
            </a:r>
            <a:r>
              <a:rPr lang="en" sz="1500" b="1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us</a:t>
            </a:r>
            <a:endParaRPr sz="15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1775150" y="4421625"/>
            <a:ext cx="67131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lnSpc>
                <a:spcPct val="109966"/>
              </a:lnSpc>
              <a:spcBef>
                <a:spcPts val="0"/>
              </a:spcBef>
              <a:spcAft>
                <a:spcPts val="0"/>
              </a:spcAft>
              <a:buClr>
                <a:srgbClr val="C9CFCB"/>
              </a:buClr>
              <a:buSzPts val="1000"/>
              <a:buFont typeface="IBM Plex Sans"/>
              <a:buNone/>
            </a:pP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 w</a:t>
            </a:r>
            <a:r>
              <a:rPr lang="en" sz="15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earables</a:t>
            </a: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will finally enable a real human interaction.</a:t>
            </a:r>
            <a:endParaRPr sz="150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5" name="Google Shape;85;p16" descr="create the image of the barista having hard time remembering people's name"/>
          <p:cNvPicPr preferRelativeResize="0"/>
          <p:nvPr/>
        </p:nvPicPr>
        <p:blipFill rotWithShape="1">
          <a:blip r:embed="rId5">
            <a:alphaModFix/>
          </a:blip>
          <a:srcRect t="24097" b="6197"/>
          <a:stretch/>
        </p:blipFill>
        <p:spPr>
          <a:xfrm>
            <a:off x="523875" y="1686365"/>
            <a:ext cx="2610001" cy="181927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523866" y="2797403"/>
            <a:ext cx="2610000" cy="1213500"/>
          </a:xfrm>
          <a:prstGeom prst="roundRect">
            <a:avLst>
              <a:gd name="adj" fmla="val 6280"/>
            </a:avLst>
          </a:prstGeom>
          <a:solidFill>
            <a:srgbClr val="FFFFFF"/>
          </a:solidFill>
          <a:ln w="7825" cap="flat" cmpd="sng">
            <a:solidFill>
              <a:srgbClr val="E2E1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722155" y="2995692"/>
            <a:ext cx="24348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1E"/>
              </a:buClr>
              <a:buSzPts val="1200"/>
              <a:buFont typeface="Space Grotesk"/>
              <a:buNone/>
            </a:pPr>
            <a:r>
              <a:rPr lang="en" sz="1200" b="1" i="0" u="none" strike="noStrike" cap="none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The barista</a:t>
            </a:r>
            <a:endParaRPr sz="12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722155" y="3255363"/>
            <a:ext cx="22797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14845"/>
              </a:lnSpc>
              <a:spcBef>
                <a:spcPts val="0"/>
              </a:spcBef>
              <a:spcAft>
                <a:spcPts val="0"/>
              </a:spcAft>
              <a:buClr>
                <a:srgbClr val="3B4A46"/>
              </a:buClr>
              <a:buSzPts val="1000"/>
              <a:buFont typeface="IBM Plex Sans"/>
              <a:buNone/>
            </a:pPr>
            <a:r>
              <a:rPr lang="en" sz="1000" i="0" u="none" strike="noStrike" cap="none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Recognizes the face of a regular </a:t>
            </a:r>
            <a:r>
              <a:rPr lang="en" sz="1000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 sz="1000">
              <a:solidFill>
                <a:srgbClr val="3B4A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4845"/>
              </a:lnSpc>
              <a:spcBef>
                <a:spcPts val="0"/>
              </a:spcBef>
              <a:spcAft>
                <a:spcPts val="0"/>
              </a:spcAft>
              <a:buClr>
                <a:srgbClr val="3B4A46"/>
              </a:buClr>
              <a:buSzPts val="1000"/>
              <a:buFont typeface="IBM Plex Sans"/>
              <a:buNone/>
            </a:pPr>
            <a:r>
              <a:rPr lang="en" sz="1000" i="0" u="none" strike="noStrike" cap="none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 but not the usual order. </a:t>
            </a:r>
            <a:r>
              <a:rPr lang="en" sz="1000" i="0" u="none" strike="noStrike" cap="none">
                <a:solidFill>
                  <a:srgbClr val="3B4A46"/>
                </a:solidFill>
                <a:highlight>
                  <a:srgbClr val="EFFF95"/>
                </a:highlight>
                <a:latin typeface="Roboto"/>
                <a:ea typeface="Roboto"/>
                <a:cs typeface="Roboto"/>
                <a:sym typeface="Roboto"/>
              </a:rPr>
              <a:t>Every visit restarts from zero</a:t>
            </a:r>
            <a:r>
              <a:rPr lang="en" sz="1000" i="0" u="none" strike="noStrike" cap="none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523866" y="428614"/>
            <a:ext cx="89058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6"/>
              </a:buClr>
              <a:buSzPts val="900"/>
              <a:buFont typeface="IBM Plex Mono"/>
              <a:buNone/>
            </a:pPr>
            <a:r>
              <a:rPr lang="en" sz="900" b="1" i="0" u="none" strike="noStrike" cap="none">
                <a:solidFill>
                  <a:srgbClr val="5B6B66"/>
                </a:solidFill>
                <a:latin typeface="Roboto"/>
                <a:ea typeface="Roboto"/>
                <a:cs typeface="Roboto"/>
                <a:sym typeface="Roboto"/>
              </a:rPr>
              <a:t>03 · TARGET USERS &amp; TASKS</a:t>
            </a:r>
            <a:endParaRPr sz="9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523866" y="672512"/>
            <a:ext cx="89058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81851"/>
              </a:lnSpc>
              <a:spcBef>
                <a:spcPts val="0"/>
              </a:spcBef>
              <a:spcAft>
                <a:spcPts val="0"/>
              </a:spcAft>
              <a:buClr>
                <a:srgbClr val="15211E"/>
              </a:buClr>
              <a:buSzPts val="2900"/>
              <a:buFont typeface="Space Grotesk"/>
              <a:buNone/>
            </a:pPr>
            <a:r>
              <a:rPr lang="en" sz="2800" b="1" i="0" u="none" strike="noStrike" cap="none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Three users, three tasks, one outcome</a:t>
            </a:r>
            <a:endParaRPr sz="28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6245025" y="1245857"/>
            <a:ext cx="2610000" cy="554700"/>
          </a:xfrm>
          <a:prstGeom prst="roundRect">
            <a:avLst>
              <a:gd name="adj" fmla="val 5655"/>
            </a:avLst>
          </a:prstGeom>
          <a:solidFill>
            <a:srgbClr val="FFFFFF"/>
          </a:solidFill>
          <a:ln w="7825" cap="flat" cmpd="sng">
            <a:solidFill>
              <a:srgbClr val="E2E1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6443318" y="1331865"/>
            <a:ext cx="24348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6"/>
              </a:buClr>
              <a:buSzPts val="900"/>
              <a:buFont typeface="IBM Plex Mono"/>
              <a:buNone/>
            </a:pPr>
            <a:r>
              <a:rPr lang="en" sz="900" i="0" u="none" strike="noStrike" cap="none">
                <a:solidFill>
                  <a:srgbClr val="5B6B66"/>
                </a:solidFill>
                <a:latin typeface="Roboto"/>
                <a:ea typeface="Roboto"/>
                <a:cs typeface="Roboto"/>
                <a:sym typeface="Roboto"/>
              </a:rPr>
              <a:t>PERSONA 3</a:t>
            </a:r>
            <a:endParaRPr sz="9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6443318" y="1499594"/>
            <a:ext cx="2434800" cy="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1E"/>
              </a:buClr>
              <a:buSzPts val="1200"/>
              <a:buFont typeface="Space Grotesk"/>
              <a:buNone/>
            </a:pPr>
            <a:r>
              <a:rPr lang="en" sz="1200" b="1" i="0" u="none" strike="noStrike" cap="none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Event &amp; conference staff</a:t>
            </a:r>
            <a:endParaRPr sz="12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125" y="1772000"/>
            <a:ext cx="2609999" cy="260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 descr="nice create this The buyers — manage consent-based profiles, CRM/POS integration, and privacy policy.&#10;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5452" y="1747850"/>
            <a:ext cx="2609999" cy="261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464125" y="1257587"/>
            <a:ext cx="2610000" cy="510900"/>
          </a:xfrm>
          <a:prstGeom prst="roundRect">
            <a:avLst>
              <a:gd name="adj" fmla="val 5655"/>
            </a:avLst>
          </a:prstGeom>
          <a:solidFill>
            <a:srgbClr val="FFFFFF"/>
          </a:solidFill>
          <a:ln w="7825" cap="flat" cmpd="sng">
            <a:solidFill>
              <a:srgbClr val="E2E1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662413" y="1379746"/>
            <a:ext cx="2434800" cy="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6"/>
              </a:buClr>
              <a:buSzPts val="900"/>
              <a:buFont typeface="IBM Plex Mono"/>
              <a:buNone/>
            </a:pPr>
            <a:r>
              <a:rPr lang="en" sz="900" i="0" u="none" strike="noStrike" cap="none">
                <a:solidFill>
                  <a:srgbClr val="5B6B66"/>
                </a:solidFill>
                <a:latin typeface="Roboto"/>
                <a:ea typeface="Roboto"/>
                <a:cs typeface="Roboto"/>
                <a:sym typeface="Roboto"/>
              </a:rPr>
              <a:t>PERSONA 1</a:t>
            </a:r>
            <a:endParaRPr sz="9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662413" y="1519458"/>
            <a:ext cx="2434800" cy="1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1E"/>
              </a:buClr>
              <a:buSzPts val="1200"/>
              <a:buFont typeface="Space Grotesk"/>
              <a:buNone/>
            </a:pPr>
            <a:r>
              <a:rPr lang="en" sz="1200" b="1" i="0" u="none" strike="noStrike" cap="none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Service employees</a:t>
            </a:r>
            <a:endParaRPr sz="12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3255450" y="1257581"/>
            <a:ext cx="2610000" cy="510900"/>
          </a:xfrm>
          <a:prstGeom prst="roundRect">
            <a:avLst>
              <a:gd name="adj" fmla="val 5655"/>
            </a:avLst>
          </a:prstGeom>
          <a:solidFill>
            <a:srgbClr val="FFFFFF"/>
          </a:solidFill>
          <a:ln w="7825" cap="flat" cmpd="sng">
            <a:solidFill>
              <a:srgbClr val="E2E1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3453737" y="1325969"/>
            <a:ext cx="24348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6"/>
              </a:buClr>
              <a:buSzPts val="900"/>
              <a:buFont typeface="IBM Plex Mono"/>
              <a:buNone/>
            </a:pPr>
            <a:r>
              <a:rPr lang="en" sz="900" i="0" u="none" strike="noStrike" cap="none">
                <a:solidFill>
                  <a:srgbClr val="5B6B66"/>
                </a:solidFill>
                <a:latin typeface="Roboto"/>
                <a:ea typeface="Roboto"/>
                <a:cs typeface="Roboto"/>
                <a:sym typeface="Roboto"/>
              </a:rPr>
              <a:t>PERSONA 2</a:t>
            </a:r>
            <a:endParaRPr sz="9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3453737" y="1455050"/>
            <a:ext cx="2434800" cy="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1E"/>
              </a:buClr>
              <a:buSzPts val="1200"/>
              <a:buFont typeface="Space Grotesk"/>
              <a:buNone/>
            </a:pPr>
            <a:r>
              <a:rPr lang="en" sz="1200" b="1" i="0" u="none" strike="noStrike" cap="none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Ops &amp; CX managers</a:t>
            </a:r>
            <a:endParaRPr sz="12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5025" y="1814700"/>
            <a:ext cx="2524600" cy="25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2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/>
          <p:nvPr/>
        </p:nvSpPr>
        <p:spPr>
          <a:xfrm>
            <a:off x="523866" y="285739"/>
            <a:ext cx="89058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9E"/>
              </a:buClr>
              <a:buSzPts val="900"/>
              <a:buFont typeface="IBM Plex Mono"/>
              <a:buNone/>
            </a:pPr>
            <a:r>
              <a:rPr lang="en" sz="900" b="1" i="0" u="none" strike="noStrike" cap="none">
                <a:solidFill>
                  <a:srgbClr val="9AA39E"/>
                </a:solidFill>
                <a:latin typeface="Roboto"/>
                <a:ea typeface="Roboto"/>
                <a:cs typeface="Roboto"/>
                <a:sym typeface="Roboto"/>
              </a:rPr>
              <a:t>04 · EXISTING TOOLS &amp; GAPS</a:t>
            </a:r>
            <a:endParaRPr sz="9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523866" y="529637"/>
            <a:ext cx="89058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81851"/>
              </a:lnSpc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2900"/>
              <a:buFont typeface="Space Grotesk"/>
              <a:buNone/>
            </a:pPr>
            <a:r>
              <a:rPr lang="en" sz="2300" b="1" i="0" u="none" strike="noStrike" cap="none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Every piece exists. </a:t>
            </a:r>
            <a:r>
              <a:rPr lang="en" sz="2300" b="1" i="0" u="none" strike="noStrike" cap="none">
                <a:solidFill>
                  <a:srgbClr val="D9F24F"/>
                </a:solidFill>
                <a:latin typeface="Roboto"/>
                <a:ea typeface="Roboto"/>
                <a:cs typeface="Roboto"/>
                <a:sym typeface="Roboto"/>
              </a:rPr>
              <a:t>Nobody closes the loop.</a:t>
            </a:r>
            <a:endParaRPr sz="23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560450" y="1011563"/>
            <a:ext cx="2610000" cy="1737000"/>
          </a:xfrm>
          <a:prstGeom prst="roundRect">
            <a:avLst>
              <a:gd name="adj" fmla="val 3102"/>
            </a:avLst>
          </a:prstGeom>
          <a:solidFill>
            <a:srgbClr val="1C201E"/>
          </a:solidFill>
          <a:ln w="7825" cap="flat" cmpd="sng">
            <a:solidFill>
              <a:srgbClr val="2E34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758717" y="1106578"/>
            <a:ext cx="2279700" cy="4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1200"/>
              <a:buFont typeface="Space Grotesk"/>
              <a:buNone/>
            </a:pPr>
            <a:r>
              <a:rPr lang="en" sz="1100" b="1" i="0" u="none" strike="noStrike" cap="none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Smart glasses &amp; face-recognition APIs</a:t>
            </a:r>
            <a:endParaRPr sz="11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758717" y="1574940"/>
            <a:ext cx="24348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F24F"/>
              </a:buClr>
              <a:buSzPts val="900"/>
              <a:buFont typeface="IBM Plex Mono"/>
              <a:buNone/>
            </a:pPr>
            <a:r>
              <a:rPr lang="en" sz="800" b="1" i="0" u="none" strike="noStrike" cap="none">
                <a:solidFill>
                  <a:srgbClr val="D9F24F"/>
                </a:solidFill>
                <a:latin typeface="Roboto"/>
                <a:ea typeface="Roboto"/>
                <a:cs typeface="Roboto"/>
                <a:sym typeface="Roboto"/>
              </a:rPr>
              <a:t>DOES WELL</a:t>
            </a:r>
            <a:endParaRPr sz="8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758717" y="1761694"/>
            <a:ext cx="22797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C9CFCB"/>
              </a:buClr>
              <a:buSzPts val="900"/>
              <a:buFont typeface="IBM Plex Sans"/>
              <a:buNone/>
            </a:pPr>
            <a:r>
              <a:rPr lang="en" sz="800" i="0" u="none" strike="noStrike" cap="none">
                <a:solidFill>
                  <a:srgbClr val="C9CFCB"/>
                </a:solidFill>
                <a:latin typeface="Roboto"/>
                <a:ea typeface="Roboto"/>
                <a:cs typeface="Roboto"/>
                <a:sym typeface="Roboto"/>
              </a:rPr>
              <a:t>Cameras, audio, displays; accurate face detection and matching.</a:t>
            </a:r>
            <a:endParaRPr sz="8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758717" y="2109267"/>
            <a:ext cx="24348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8A7A"/>
              </a:buClr>
              <a:buSzPts val="900"/>
              <a:buFont typeface="IBM Plex Mono"/>
              <a:buNone/>
            </a:pPr>
            <a:r>
              <a:rPr lang="en" sz="800" b="1" i="0" u="none" strike="noStrike" cap="none">
                <a:solidFill>
                  <a:srgbClr val="FF8A7A"/>
                </a:solidFill>
                <a:latin typeface="Roboto"/>
                <a:ea typeface="Roboto"/>
                <a:cs typeface="Roboto"/>
                <a:sym typeface="Roboto"/>
              </a:rPr>
              <a:t>FALLS SHORT</a:t>
            </a:r>
            <a:endParaRPr sz="8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758717" y="2296021"/>
            <a:ext cx="22797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C9CFCB"/>
              </a:buClr>
              <a:buSzPts val="900"/>
              <a:buFont typeface="IBM Plex Sans"/>
              <a:buNone/>
            </a:pPr>
            <a:r>
              <a:rPr lang="en" sz="800" i="0" u="none" strike="noStrike" cap="none">
                <a:solidFill>
                  <a:srgbClr val="C9CFCB"/>
                </a:solidFill>
                <a:latin typeface="Roboto"/>
                <a:ea typeface="Roboto"/>
                <a:cs typeface="Roboto"/>
                <a:sym typeface="Roboto"/>
              </a:rPr>
              <a:t>No organization-specific memory, no consent workflow, no business context.</a:t>
            </a:r>
            <a:endParaRPr sz="8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3303625" y="1011500"/>
            <a:ext cx="2610000" cy="1737000"/>
          </a:xfrm>
          <a:prstGeom prst="roundRect">
            <a:avLst>
              <a:gd name="adj" fmla="val 3102"/>
            </a:avLst>
          </a:prstGeom>
          <a:solidFill>
            <a:srgbClr val="1C201E"/>
          </a:solidFill>
          <a:ln w="7825" cap="flat" cmpd="sng">
            <a:solidFill>
              <a:srgbClr val="2E34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3473337" y="1154203"/>
            <a:ext cx="24348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1200"/>
              <a:buFont typeface="Space Grotesk"/>
              <a:buNone/>
            </a:pPr>
            <a:r>
              <a:rPr lang="en" sz="1100" b="1" i="0" u="none" strike="noStrike" cap="none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CRM, POS &amp; directories</a:t>
            </a:r>
            <a:endParaRPr sz="11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3473337" y="1431233"/>
            <a:ext cx="24348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F24F"/>
              </a:buClr>
              <a:buSzPts val="900"/>
              <a:buFont typeface="IBM Plex Mono"/>
              <a:buNone/>
            </a:pPr>
            <a:r>
              <a:rPr lang="en" sz="800" b="1" i="0" u="none" strike="noStrike" cap="none">
                <a:solidFill>
                  <a:srgbClr val="D9F24F"/>
                </a:solidFill>
                <a:latin typeface="Roboto"/>
                <a:ea typeface="Roboto"/>
                <a:cs typeface="Roboto"/>
                <a:sym typeface="Roboto"/>
              </a:rPr>
              <a:t>DOES WELL</a:t>
            </a:r>
            <a:endParaRPr sz="8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3473337" y="1617988"/>
            <a:ext cx="22797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C9CFCB"/>
              </a:buClr>
              <a:buSzPts val="900"/>
              <a:buFont typeface="IBM Plex Sans"/>
              <a:buNone/>
            </a:pPr>
            <a:r>
              <a:rPr lang="en" sz="800" i="0" u="none" strike="noStrike" cap="none">
                <a:solidFill>
                  <a:srgbClr val="C9CFCB"/>
                </a:solidFill>
                <a:latin typeface="Roboto"/>
                <a:ea typeface="Roboto"/>
                <a:cs typeface="Roboto"/>
                <a:sym typeface="Roboto"/>
              </a:rPr>
              <a:t>Rich preferences, history, and professional identity data.</a:t>
            </a:r>
            <a:endParaRPr sz="8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3473337" y="2013185"/>
            <a:ext cx="24348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8A7A"/>
              </a:buClr>
              <a:buSzPts val="900"/>
              <a:buFont typeface="IBM Plex Mono"/>
              <a:buNone/>
            </a:pPr>
            <a:r>
              <a:rPr lang="en" sz="800" b="1" i="0" u="none" strike="noStrike" cap="none">
                <a:solidFill>
                  <a:srgbClr val="FF8A7A"/>
                </a:solidFill>
                <a:latin typeface="Roboto"/>
                <a:ea typeface="Roboto"/>
                <a:cs typeface="Roboto"/>
                <a:sym typeface="Roboto"/>
              </a:rPr>
              <a:t>FALLS SHORT</a:t>
            </a:r>
            <a:endParaRPr sz="8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473337" y="2199939"/>
            <a:ext cx="22797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C9CFCB"/>
              </a:buClr>
              <a:buSzPts val="900"/>
              <a:buFont typeface="IBM Plex Sans"/>
              <a:buNone/>
            </a:pPr>
            <a:r>
              <a:rPr lang="en" sz="800" i="0" u="none" strike="noStrike" cap="none">
                <a:solidFill>
                  <a:srgbClr val="C9CFCB"/>
                </a:solidFill>
                <a:latin typeface="Roboto"/>
                <a:ea typeface="Roboto"/>
                <a:cs typeface="Roboto"/>
                <a:sym typeface="Roboto"/>
              </a:rPr>
              <a:t>Manual search only — the employee must stop working to look anything up.</a:t>
            </a:r>
            <a:endParaRPr sz="8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6046825" y="1011500"/>
            <a:ext cx="2610000" cy="1737000"/>
          </a:xfrm>
          <a:prstGeom prst="roundRect">
            <a:avLst>
              <a:gd name="adj" fmla="val 3102"/>
            </a:avLst>
          </a:prstGeom>
          <a:solidFill>
            <a:srgbClr val="1C201E"/>
          </a:solidFill>
          <a:ln w="7825" cap="flat" cmpd="sng">
            <a:solidFill>
              <a:srgbClr val="2E34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6226055" y="1192303"/>
            <a:ext cx="24348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1200"/>
              <a:buFont typeface="Space Grotesk"/>
              <a:buNone/>
            </a:pPr>
            <a:r>
              <a:rPr lang="en" sz="1100" b="1" i="0" u="none" strike="noStrike" cap="none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Voice assistants &amp; note apps</a:t>
            </a:r>
            <a:endParaRPr sz="11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6216530" y="1488383"/>
            <a:ext cx="24348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F24F"/>
              </a:buClr>
              <a:buSzPts val="900"/>
              <a:buFont typeface="IBM Plex Mono"/>
              <a:buNone/>
            </a:pPr>
            <a:r>
              <a:rPr lang="en" sz="800" b="1" i="0" u="none" strike="noStrike" cap="none">
                <a:solidFill>
                  <a:srgbClr val="D9F24F"/>
                </a:solidFill>
                <a:latin typeface="Roboto"/>
                <a:ea typeface="Roboto"/>
                <a:cs typeface="Roboto"/>
                <a:sym typeface="Roboto"/>
              </a:rPr>
              <a:t>DOES WELL</a:t>
            </a:r>
            <a:endParaRPr sz="8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6216530" y="1675138"/>
            <a:ext cx="2434800" cy="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C9CFCB"/>
              </a:buClr>
              <a:buSzPts val="900"/>
              <a:buFont typeface="IBM Plex Sans"/>
              <a:buNone/>
            </a:pPr>
            <a:r>
              <a:rPr lang="en" sz="800" i="0" u="none" strike="noStrike" cap="none">
                <a:solidFill>
                  <a:srgbClr val="C9CFCB"/>
                </a:solidFill>
                <a:latin typeface="Roboto"/>
                <a:ea typeface="Roboto"/>
                <a:cs typeface="Roboto"/>
                <a:sym typeface="Roboto"/>
              </a:rPr>
              <a:t>Record and summarize speech reliably.</a:t>
            </a:r>
            <a:endParaRPr sz="8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6216530" y="1958448"/>
            <a:ext cx="24348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8A7A"/>
              </a:buClr>
              <a:buSzPts val="900"/>
              <a:buFont typeface="IBM Plex Mono"/>
              <a:buNone/>
            </a:pPr>
            <a:r>
              <a:rPr lang="en" sz="800" b="1" i="0" u="none" strike="noStrike" cap="none">
                <a:solidFill>
                  <a:srgbClr val="FF8A7A"/>
                </a:solidFill>
                <a:latin typeface="Roboto"/>
                <a:ea typeface="Roboto"/>
                <a:cs typeface="Roboto"/>
                <a:sym typeface="Roboto"/>
              </a:rPr>
              <a:t>FALLS SHORT</a:t>
            </a:r>
            <a:endParaRPr sz="8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6216530" y="2145203"/>
            <a:ext cx="2279700" cy="5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C9CFCB"/>
              </a:buClr>
              <a:buSzPts val="900"/>
              <a:buFont typeface="IBM Plex Sans"/>
              <a:buNone/>
            </a:pPr>
            <a:r>
              <a:rPr lang="en" sz="800" i="0" u="none" strike="noStrike" cap="none">
                <a:solidFill>
                  <a:srgbClr val="C9CFCB"/>
                </a:solidFill>
                <a:latin typeface="Roboto"/>
                <a:ea typeface="Roboto"/>
                <a:cs typeface="Roboto"/>
                <a:sym typeface="Roboto"/>
              </a:rPr>
              <a:t>No link between what was said and an authorized identity — notes float free of people.</a:t>
            </a:r>
            <a:endParaRPr sz="8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33" name="Google Shape;133;p18"/>
          <p:cNvGraphicFramePr/>
          <p:nvPr/>
        </p:nvGraphicFramePr>
        <p:xfrm>
          <a:off x="688863" y="29187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{E5B8082A-BEAB-418D-B756-14B050A1AF27}</a:tableStyleId>
              </a:tblPr>
              <a:tblGrid>
                <a:gridCol w="268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A86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rgbClr val="8A8A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95250" marB="95250">
                    <a:lnL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FF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A86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rgbClr val="8A8A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Does well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95250" marB="95250">
                    <a:lnL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FF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A86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rgbClr val="8A8A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Falls short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95250" marB="95250">
                    <a:lnL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F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2EF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rgbClr val="F2F2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Ray-Ban Meta / Display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95250" marB="95250">
                    <a:lnL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C9C5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rgbClr val="C9C9C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Mature hardware, open camera and display SDK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95250" marB="95250">
                    <a:lnL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C9C5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rgbClr val="C9C9C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personalized, face-linked memory recall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95250" marB="95250">
                    <a:lnL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2EF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rgbClr val="F2F2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Rewind / Limitless pendants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95250" marB="95250">
                    <a:lnL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C9C5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rgbClr val="C9C9C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Captures and searches past conversations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95250" marB="95250">
                    <a:lnL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C9C5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rgbClr val="C9C9C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real-time recognition in the moment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95250" marB="95250">
                    <a:lnL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2EF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rgbClr val="F2F2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INMO GO3 / Rokid Glasses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95250" marB="95250">
                    <a:lnL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C9C5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rgbClr val="C9C9C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In-lens AR display already built in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95250" marB="95250">
                    <a:lnL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C9C5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rgbClr val="C9C9C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Closed or immature third-party developer SDKs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95250" marB="95250">
                    <a:lnL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242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4" name="Google Shape;134;p18"/>
          <p:cNvSpPr/>
          <p:nvPr/>
        </p:nvSpPr>
        <p:spPr>
          <a:xfrm>
            <a:off x="487544" y="4329116"/>
            <a:ext cx="8224800" cy="429600"/>
          </a:xfrm>
          <a:prstGeom prst="roundRect">
            <a:avLst>
              <a:gd name="adj" fmla="val 12749"/>
            </a:avLst>
          </a:prstGeom>
          <a:solidFill>
            <a:srgbClr val="19191B"/>
          </a:solidFill>
          <a:ln w="7150" cap="flat" cmpd="sng">
            <a:solidFill>
              <a:srgbClr val="D7F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641372" y="4463896"/>
            <a:ext cx="8154600" cy="1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7FF5C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D7FF5C"/>
                </a:solidFill>
                <a:latin typeface="Arial"/>
                <a:ea typeface="Arial"/>
                <a:cs typeface="Arial"/>
                <a:sym typeface="Arial"/>
              </a:rPr>
              <a:t>The gap:</a:t>
            </a:r>
            <a:r>
              <a:rPr lang="en" sz="900" b="1" i="0" u="none" strike="noStrike" cap="none">
                <a:solidFill>
                  <a:srgbClr val="F2F2EF"/>
                </a:solidFill>
                <a:latin typeface="Arial"/>
                <a:ea typeface="Arial"/>
                <a:cs typeface="Arial"/>
                <a:sym typeface="Arial"/>
              </a:rPr>
              <a:t> no consumer product combines real-time face recognition, LLM reasoning, and an AR display for personal memory assistance.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440075" y="5408366"/>
            <a:ext cx="96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7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5A5A5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/>
          <p:nvPr/>
        </p:nvSpPr>
        <p:spPr>
          <a:xfrm>
            <a:off x="523866" y="428614"/>
            <a:ext cx="46350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6"/>
              </a:buClr>
              <a:buSzPts val="900"/>
              <a:buFont typeface="IBM Plex Mono"/>
              <a:buNone/>
            </a:pPr>
            <a:r>
              <a:rPr lang="en" sz="900" b="1" i="0" u="none" strike="noStrike" cap="none">
                <a:solidFill>
                  <a:srgbClr val="5B6B66"/>
                </a:solidFill>
                <a:latin typeface="Roboto"/>
                <a:ea typeface="Roboto"/>
                <a:cs typeface="Roboto"/>
                <a:sym typeface="Roboto"/>
              </a:rPr>
              <a:t>05 · LITERATURE SYNTHESIS</a:t>
            </a:r>
            <a:endParaRPr sz="9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523866" y="672512"/>
            <a:ext cx="46350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82342"/>
              </a:lnSpc>
              <a:spcBef>
                <a:spcPts val="0"/>
              </a:spcBef>
              <a:spcAft>
                <a:spcPts val="0"/>
              </a:spcAft>
              <a:buClr>
                <a:srgbClr val="15211E"/>
              </a:buClr>
              <a:buSzPts val="2400"/>
              <a:buFont typeface="Space Grotesk"/>
              <a:buNone/>
            </a:pPr>
            <a:r>
              <a:rPr lang="en" sz="2400" b="1" i="0" u="none" strike="noStrike" cap="none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Four themes across 8 papers</a:t>
            </a:r>
            <a:endParaRPr sz="24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523866" y="1240152"/>
            <a:ext cx="3981600" cy="1670700"/>
          </a:xfrm>
          <a:prstGeom prst="roundRect">
            <a:avLst>
              <a:gd name="adj" fmla="val 4561"/>
            </a:avLst>
          </a:prstGeom>
          <a:solidFill>
            <a:srgbClr val="FFFFFF"/>
          </a:solidFill>
          <a:ln w="7825" cap="flat" cmpd="sng">
            <a:solidFill>
              <a:srgbClr val="E2E1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731692" y="1428944"/>
            <a:ext cx="39225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C1F"/>
              </a:buClr>
              <a:buSzPts val="1700"/>
              <a:buFont typeface="Space Grotesk"/>
              <a:buNone/>
            </a:pPr>
            <a:r>
              <a:rPr lang="en" sz="1700" b="1" i="0" u="none" strike="noStrike" cap="none">
                <a:solidFill>
                  <a:srgbClr val="8A9C1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7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731692" y="1742620"/>
            <a:ext cx="39225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1E"/>
              </a:buClr>
              <a:buSzPts val="1200"/>
              <a:buFont typeface="Space Grotesk"/>
              <a:buNone/>
            </a:pPr>
            <a:r>
              <a:rPr lang="en" sz="1200" b="1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Privacy &amp; Consent</a:t>
            </a:r>
            <a:endParaRPr sz="12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731700" y="1992802"/>
            <a:ext cx="36729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lvl="0" indent="0" algn="l" rtl="0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3B4A46"/>
              </a:buClr>
              <a:buSzPts val="900"/>
              <a:buFont typeface="IBM Plex Sans"/>
              <a:buNone/>
            </a:pPr>
            <a:r>
              <a:rPr lang="en" sz="900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Always-on visual sensing creates severe bystander privacy concerns and transparency issues. </a:t>
            </a:r>
            <a:endParaRPr sz="900">
              <a:solidFill>
                <a:srgbClr val="3B4A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3B4A46"/>
              </a:buClr>
              <a:buSzPts val="900"/>
              <a:buFont typeface="IBM Plex Sans"/>
              <a:buNone/>
            </a:pPr>
            <a:r>
              <a:rPr lang="en" sz="900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→ A consent-first architecture matching embeddings strictly against pre-enrolled, opted-in profiles with full deletion rights. </a:t>
            </a:r>
            <a:endParaRPr sz="900">
              <a:solidFill>
                <a:srgbClr val="3B4A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3B4A46"/>
              </a:buClr>
              <a:buSzPts val="900"/>
              <a:buFont typeface="IBM Plex Sans"/>
              <a:buNone/>
            </a:pPr>
            <a:r>
              <a:rPr lang="en" sz="800" i="1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(Liu et al.)(Cheng et al.)</a:t>
            </a:r>
            <a:endParaRPr sz="800" i="1">
              <a:solidFill>
                <a:srgbClr val="3B4A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3B4A46"/>
              </a:buClr>
              <a:buSzPts val="900"/>
              <a:buFont typeface="IBM Plex Sans"/>
              <a:buNone/>
            </a:pPr>
            <a:endParaRPr sz="900">
              <a:solidFill>
                <a:srgbClr val="3B4A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4638657" y="1240152"/>
            <a:ext cx="3981600" cy="1670700"/>
          </a:xfrm>
          <a:prstGeom prst="roundRect">
            <a:avLst>
              <a:gd name="adj" fmla="val 4561"/>
            </a:avLst>
          </a:prstGeom>
          <a:solidFill>
            <a:srgbClr val="FFFFFF"/>
          </a:solidFill>
          <a:ln w="7825" cap="flat" cmpd="sng">
            <a:solidFill>
              <a:srgbClr val="E2E1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4846483" y="1428944"/>
            <a:ext cx="39225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C1F"/>
              </a:buClr>
              <a:buSzPts val="1700"/>
              <a:buFont typeface="Space Grotesk"/>
              <a:buNone/>
            </a:pPr>
            <a:r>
              <a:rPr lang="en" sz="1700" b="1" i="0" u="none" strike="noStrike" cap="none">
                <a:solidFill>
                  <a:srgbClr val="8A9C1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7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4846483" y="1742620"/>
            <a:ext cx="39225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1E"/>
              </a:buClr>
              <a:buSzPts val="1200"/>
              <a:buFont typeface="Space Grotesk"/>
              <a:buNone/>
            </a:pPr>
            <a:r>
              <a:rPr lang="en" sz="1200" b="1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Proactive Retrieval</a:t>
            </a:r>
            <a:endParaRPr sz="12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4846475" y="1992802"/>
            <a:ext cx="36729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3B4A46"/>
              </a:buClr>
              <a:buSzPts val="900"/>
              <a:buFont typeface="IBM Plex Sans"/>
              <a:buNone/>
            </a:pPr>
            <a:r>
              <a:rPr lang="en" sz="900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Moving from passive screen-mirroring to proactive agents that infer intent in real-time. </a:t>
            </a:r>
            <a:endParaRPr sz="900">
              <a:solidFill>
                <a:srgbClr val="3B4A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3B4A46"/>
              </a:buClr>
              <a:buSzPts val="900"/>
              <a:buFont typeface="IBM Plex Sans"/>
              <a:buNone/>
            </a:pPr>
            <a:r>
              <a:rPr lang="en" sz="900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→ An automated retrieval pipeline that surfaces order history, roles, and past summaries hands-free. </a:t>
            </a:r>
            <a:endParaRPr sz="900">
              <a:solidFill>
                <a:srgbClr val="3B4A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3B4A46"/>
              </a:buClr>
              <a:buSzPts val="900"/>
              <a:buFont typeface="IBM Plex Sans"/>
              <a:buNone/>
            </a:pPr>
            <a:r>
              <a:rPr lang="en" sz="800" i="1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(Wang et al.)(Liu et al.)</a:t>
            </a:r>
            <a:endParaRPr sz="800" i="1">
              <a:solidFill>
                <a:srgbClr val="3B4A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523866" y="3044153"/>
            <a:ext cx="3981600" cy="1670700"/>
          </a:xfrm>
          <a:prstGeom prst="roundRect">
            <a:avLst>
              <a:gd name="adj" fmla="val 4561"/>
            </a:avLst>
          </a:prstGeom>
          <a:solidFill>
            <a:srgbClr val="FFFFFF"/>
          </a:solidFill>
          <a:ln w="7825" cap="flat" cmpd="sng">
            <a:solidFill>
              <a:srgbClr val="E2E1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731692" y="3232946"/>
            <a:ext cx="39225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C1F"/>
              </a:buClr>
              <a:buSzPts val="1700"/>
              <a:buFont typeface="Space Grotesk"/>
              <a:buNone/>
            </a:pPr>
            <a:r>
              <a:rPr lang="en" sz="1700" b="1" i="0" u="none" strike="noStrike" cap="none">
                <a:solidFill>
                  <a:srgbClr val="8A9C1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7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731692" y="3546621"/>
            <a:ext cx="39225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1E"/>
              </a:buClr>
              <a:buSzPts val="1200"/>
              <a:buFont typeface="Space Grotesk"/>
              <a:buNone/>
            </a:pPr>
            <a:r>
              <a:rPr lang="en" sz="1200" b="1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Ergonomics &amp; Interaction</a:t>
            </a:r>
            <a:endParaRPr sz="12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731700" y="3796800"/>
            <a:ext cx="3672900" cy="9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3B4A46"/>
              </a:buClr>
              <a:buSzPts val="900"/>
              <a:buFont typeface="IBM Plex Sans"/>
              <a:buNone/>
            </a:pPr>
            <a:r>
              <a:rPr lang="en" sz="900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Head-mounted displays enhance decision comfort over handheld screens. </a:t>
            </a:r>
            <a:endParaRPr sz="900">
              <a:solidFill>
                <a:srgbClr val="3B4A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3B4A46"/>
              </a:buClr>
              <a:buSzPts val="900"/>
              <a:buFont typeface="IBM Plex Sans"/>
              <a:buNone/>
            </a:pPr>
            <a:r>
              <a:rPr lang="en" sz="900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→ A hands-free HUD and audio interface that preserves eye contact and offers subtle input modes for busy work environments. </a:t>
            </a:r>
            <a:endParaRPr sz="900">
              <a:solidFill>
                <a:srgbClr val="3B4A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3B4A46"/>
              </a:buClr>
              <a:buSzPts val="900"/>
              <a:buFont typeface="IBM Plex Sans"/>
              <a:buNone/>
            </a:pPr>
            <a:r>
              <a:rPr lang="en" sz="800" i="1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(Fang et al.)(Pfeifer et al.) </a:t>
            </a:r>
            <a:endParaRPr sz="800" i="1">
              <a:solidFill>
                <a:srgbClr val="3B4A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4638657" y="3044153"/>
            <a:ext cx="3981600" cy="1670700"/>
          </a:xfrm>
          <a:prstGeom prst="roundRect">
            <a:avLst>
              <a:gd name="adj" fmla="val 4561"/>
            </a:avLst>
          </a:prstGeom>
          <a:solidFill>
            <a:srgbClr val="FFFFFF"/>
          </a:solidFill>
          <a:ln w="7825" cap="flat" cmpd="sng">
            <a:solidFill>
              <a:srgbClr val="E2E1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4846483" y="3232946"/>
            <a:ext cx="39225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C1F"/>
              </a:buClr>
              <a:buSzPts val="1700"/>
              <a:buFont typeface="Space Grotesk"/>
              <a:buNone/>
            </a:pPr>
            <a:r>
              <a:rPr lang="en" sz="1700" b="1" i="0" u="none" strike="noStrike" cap="none">
                <a:solidFill>
                  <a:srgbClr val="8A9C1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sz="17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4846483" y="3546621"/>
            <a:ext cx="39225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1E"/>
              </a:buClr>
              <a:buSzPts val="1200"/>
              <a:buFont typeface="Space Grotesk"/>
              <a:buNone/>
            </a:pPr>
            <a:r>
              <a:rPr lang="en" sz="1200" b="1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Computational Constraints</a:t>
            </a:r>
            <a:endParaRPr sz="12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4846475" y="3796799"/>
            <a:ext cx="3672900" cy="9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lvl="0" indent="0" algn="l" rtl="0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3B4A46"/>
              </a:buClr>
              <a:buSzPts val="900"/>
              <a:buFont typeface="IBM Plex Sans"/>
              <a:buNone/>
            </a:pPr>
            <a:r>
              <a:rPr lang="en" sz="900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Continuous vision and generative AI on wearables cause severe thermal, battery, and compute bottlenecks</a:t>
            </a:r>
            <a:endParaRPr sz="900">
              <a:solidFill>
                <a:srgbClr val="3B4A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3B4A46"/>
              </a:buClr>
              <a:buSzPts val="900"/>
              <a:buFont typeface="IBM Plex Sans"/>
              <a:buNone/>
            </a:pPr>
            <a:r>
              <a:rPr lang="en" sz="900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→ A split-edge design that offloads heavy facial embeddings and lookups to an external node via event-driven triggers. </a:t>
            </a:r>
            <a:endParaRPr sz="900">
              <a:solidFill>
                <a:srgbClr val="3B4A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3B4A46"/>
              </a:buClr>
              <a:buSzPts val="900"/>
              <a:buFont typeface="IBM Plex Sans"/>
              <a:buNone/>
            </a:pPr>
            <a:r>
              <a:rPr lang="en" sz="800" i="1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(Wang et al.)(Yang et al.)(Liu et al.)</a:t>
            </a:r>
            <a:endParaRPr sz="800" i="1">
              <a:solidFill>
                <a:srgbClr val="3B4A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3B4A46"/>
              </a:buClr>
              <a:buSzPts val="900"/>
              <a:buFont typeface="IBM Plex Sans"/>
              <a:buNone/>
            </a:pPr>
            <a:endParaRPr sz="900">
              <a:solidFill>
                <a:srgbClr val="3B4A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2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/>
          <p:nvPr/>
        </p:nvSpPr>
        <p:spPr>
          <a:xfrm>
            <a:off x="523866" y="428614"/>
            <a:ext cx="89058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9E"/>
              </a:buClr>
              <a:buSzPts val="900"/>
              <a:buFont typeface="IBM Plex Mono"/>
              <a:buNone/>
            </a:pPr>
            <a:r>
              <a:rPr lang="en" sz="900" b="1" i="0" u="none" strike="noStrike" cap="none">
                <a:solidFill>
                  <a:srgbClr val="9AA39E"/>
                </a:solidFill>
                <a:latin typeface="Roboto"/>
                <a:ea typeface="Roboto"/>
                <a:cs typeface="Roboto"/>
                <a:sym typeface="Roboto"/>
              </a:rPr>
              <a:t>06 · INITIAL CONCEPT &amp; GENAI VALUE</a:t>
            </a:r>
            <a:endParaRPr sz="9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523866" y="672512"/>
            <a:ext cx="89058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81851"/>
              </a:lnSpc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2900"/>
              <a:buFont typeface="Space Grotesk"/>
              <a:buNone/>
            </a:pPr>
            <a:r>
              <a:rPr lang="en" sz="2900" b="1" i="0" u="none" strike="noStrike" cap="none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Glasses see. AI recalls. </a:t>
            </a:r>
            <a:r>
              <a:rPr lang="en" sz="2900" b="1" i="0" u="none" strike="noStrike" cap="none">
                <a:solidFill>
                  <a:srgbClr val="D9F24F"/>
                </a:solidFill>
                <a:latin typeface="Roboto"/>
                <a:ea typeface="Roboto"/>
                <a:cs typeface="Roboto"/>
                <a:sym typeface="Roboto"/>
              </a:rPr>
              <a:t>Humans decide.</a:t>
            </a:r>
            <a:endParaRPr sz="29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523866" y="1290651"/>
            <a:ext cx="1738500" cy="819300"/>
          </a:xfrm>
          <a:prstGeom prst="roundRect">
            <a:avLst>
              <a:gd name="adj" fmla="val 9303"/>
            </a:avLst>
          </a:prstGeom>
          <a:solidFill>
            <a:srgbClr val="1C201E"/>
          </a:solidFill>
          <a:ln w="7825" cap="flat" cmpd="sng">
            <a:solidFill>
              <a:srgbClr val="2E34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602701" y="1441335"/>
            <a:ext cx="15807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A39E"/>
              </a:buClr>
              <a:buSzPts val="900"/>
              <a:buFont typeface="IBM Plex Mono"/>
              <a:buNone/>
            </a:pPr>
            <a:r>
              <a:rPr lang="en" sz="900" b="1" i="0" u="none" strike="noStrike" cap="none">
                <a:solidFill>
                  <a:srgbClr val="9AA39E"/>
                </a:solidFill>
                <a:latin typeface="Roboto"/>
                <a:ea typeface="Roboto"/>
                <a:cs typeface="Roboto"/>
                <a:sym typeface="Roboto"/>
              </a:rPr>
              <a:t>CAPTURE</a:t>
            </a:r>
            <a:endParaRPr sz="9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602701" y="1637626"/>
            <a:ext cx="15807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lnSpc>
                <a:spcPct val="102698"/>
              </a:lnSpc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900"/>
              <a:buFont typeface="IBM Plex Sans"/>
              <a:buNone/>
            </a:pPr>
            <a:r>
              <a:rPr lang="en" sz="900" b="1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Webcam feed simulates glasses camera</a:t>
            </a:r>
            <a:endParaRPr sz="900" b="1">
              <a:solidFill>
                <a:srgbClr val="F4F3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2357417" y="1578893"/>
            <a:ext cx="228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F24F"/>
              </a:buClr>
              <a:buSzPts val="1500"/>
              <a:buFont typeface="Space Grotesk"/>
              <a:buNone/>
            </a:pPr>
            <a:r>
              <a:rPr lang="en" sz="1500" i="0" u="none" strike="noStrike" cap="none">
                <a:solidFill>
                  <a:srgbClr val="D9F24F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15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2643132" y="1290651"/>
            <a:ext cx="1738500" cy="819300"/>
          </a:xfrm>
          <a:prstGeom prst="roundRect">
            <a:avLst>
              <a:gd name="adj" fmla="val 9303"/>
            </a:avLst>
          </a:prstGeom>
          <a:solidFill>
            <a:srgbClr val="1C201E"/>
          </a:solidFill>
          <a:ln w="7825" cap="flat" cmpd="sng">
            <a:solidFill>
              <a:srgbClr val="D9F2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2721965" y="1441335"/>
            <a:ext cx="15807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F24F"/>
              </a:buClr>
              <a:buSzPts val="900"/>
              <a:buFont typeface="IBM Plex Mono"/>
              <a:buNone/>
            </a:pPr>
            <a:r>
              <a:rPr lang="en" sz="900" b="1" i="0" u="none" strike="noStrike" cap="none">
                <a:solidFill>
                  <a:srgbClr val="D9F24F"/>
                </a:solidFill>
                <a:latin typeface="Roboto"/>
                <a:ea typeface="Roboto"/>
                <a:cs typeface="Roboto"/>
                <a:sym typeface="Roboto"/>
              </a:rPr>
              <a:t>RECOGNIZE</a:t>
            </a:r>
            <a:endParaRPr sz="9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2772260" y="1637626"/>
            <a:ext cx="14802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lnSpc>
                <a:spcPct val="102698"/>
              </a:lnSpc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900"/>
              <a:buFont typeface="IBM Plex Sans"/>
              <a:buNone/>
            </a:pPr>
            <a:r>
              <a:rPr lang="en" sz="900" b="1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ArcFace embedding, </a:t>
            </a:r>
            <a:endParaRPr sz="900" b="1">
              <a:solidFill>
                <a:srgbClr val="F4F3E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2698"/>
              </a:lnSpc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900"/>
              <a:buFont typeface="IBM Plex Sans"/>
              <a:buNone/>
            </a:pPr>
            <a:r>
              <a:rPr lang="en" sz="900" b="1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cosine match</a:t>
            </a:r>
            <a:endParaRPr sz="900" b="1">
              <a:solidFill>
                <a:srgbClr val="F4F3E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2698"/>
              </a:lnSpc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900"/>
              <a:buFont typeface="IBM Plex Sans"/>
              <a:buNone/>
            </a:pPr>
            <a:endParaRPr sz="900" b="1">
              <a:solidFill>
                <a:srgbClr val="F4F3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476725" y="1578893"/>
            <a:ext cx="228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F24F"/>
              </a:buClr>
              <a:buSzPts val="1500"/>
              <a:buFont typeface="Space Grotesk"/>
              <a:buNone/>
            </a:pPr>
            <a:r>
              <a:rPr lang="en" sz="1500" i="0" u="none" strike="noStrike" cap="none">
                <a:solidFill>
                  <a:srgbClr val="D9F24F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15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4762440" y="1290651"/>
            <a:ext cx="1738500" cy="819300"/>
          </a:xfrm>
          <a:prstGeom prst="roundRect">
            <a:avLst>
              <a:gd name="adj" fmla="val 9303"/>
            </a:avLst>
          </a:prstGeom>
          <a:solidFill>
            <a:srgbClr val="1C201E"/>
          </a:solidFill>
          <a:ln w="7825" cap="flat" cmpd="sng">
            <a:solidFill>
              <a:srgbClr val="D9F2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841273" y="1441335"/>
            <a:ext cx="15807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F24F"/>
              </a:buClr>
              <a:buSzPts val="900"/>
              <a:buFont typeface="IBM Plex Mono"/>
              <a:buNone/>
            </a:pPr>
            <a:r>
              <a:rPr lang="en" sz="900" i="0" u="none" strike="noStrike" cap="none">
                <a:solidFill>
                  <a:srgbClr val="D9F24F"/>
                </a:solidFill>
                <a:latin typeface="Roboto"/>
                <a:ea typeface="Roboto"/>
                <a:cs typeface="Roboto"/>
                <a:sym typeface="Roboto"/>
              </a:rPr>
              <a:t>RETRIEVE</a:t>
            </a:r>
            <a:endParaRPr sz="9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891568" y="1637626"/>
            <a:ext cx="14802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lnSpc>
                <a:spcPct val="102698"/>
              </a:lnSpc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900"/>
              <a:buFont typeface="IBM Plex Sans"/>
              <a:buNone/>
            </a:pPr>
            <a:r>
              <a:rPr lang="en" sz="900" b="1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Notes for enrolled, consented people only</a:t>
            </a:r>
            <a:endParaRPr sz="900" b="1">
              <a:solidFill>
                <a:srgbClr val="F4F3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6596032" y="1578893"/>
            <a:ext cx="228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F24F"/>
              </a:buClr>
              <a:buSzPts val="1500"/>
              <a:buFont typeface="Space Grotesk"/>
              <a:buNone/>
            </a:pPr>
            <a:r>
              <a:rPr lang="en" sz="1500" i="0" u="none" strike="noStrike" cap="none">
                <a:solidFill>
                  <a:srgbClr val="D9F24F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15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6881748" y="1290651"/>
            <a:ext cx="1738500" cy="819300"/>
          </a:xfrm>
          <a:prstGeom prst="roundRect">
            <a:avLst>
              <a:gd name="adj" fmla="val 9303"/>
            </a:avLst>
          </a:prstGeom>
          <a:solidFill>
            <a:srgbClr val="1C201E"/>
          </a:solidFill>
          <a:ln w="7825" cap="flat" cmpd="sng">
            <a:solidFill>
              <a:srgbClr val="2E34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6960580" y="1441335"/>
            <a:ext cx="15807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A39E"/>
              </a:buClr>
              <a:buSzPts val="900"/>
              <a:buFont typeface="IBM Plex Mono"/>
              <a:buNone/>
            </a:pPr>
            <a:r>
              <a:rPr lang="en" sz="900" i="0" u="none" strike="noStrike" cap="none">
                <a:solidFill>
                  <a:srgbClr val="9AA39E"/>
                </a:solidFill>
                <a:latin typeface="Roboto"/>
                <a:ea typeface="Roboto"/>
                <a:cs typeface="Roboto"/>
                <a:sym typeface="Roboto"/>
              </a:rPr>
              <a:t>CONFIRM</a:t>
            </a:r>
            <a:endParaRPr sz="9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7010876" y="1637626"/>
            <a:ext cx="14802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lnSpc>
                <a:spcPct val="102698"/>
              </a:lnSpc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900"/>
              <a:buFont typeface="IBM Plex Sans"/>
              <a:buNone/>
            </a:pPr>
            <a:r>
              <a:rPr lang="en" sz="900" b="1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LLM drafts a one-line reminder overlay</a:t>
            </a:r>
            <a:endParaRPr sz="900" b="1">
              <a:solidFill>
                <a:srgbClr val="F4F3E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2698"/>
              </a:lnSpc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900"/>
              <a:buFont typeface="IBM Plex Sans"/>
              <a:buNone/>
            </a:pPr>
            <a:endParaRPr sz="900" b="1">
              <a:solidFill>
                <a:srgbClr val="F4F3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523866" y="2347839"/>
            <a:ext cx="4343400" cy="2367000"/>
          </a:xfrm>
          <a:prstGeom prst="roundRect">
            <a:avLst>
              <a:gd name="adj" fmla="val 3219"/>
            </a:avLst>
          </a:prstGeom>
          <a:solidFill>
            <a:srgbClr val="1C201E"/>
          </a:solidFill>
          <a:ln w="7825" cap="flat" cmpd="sng">
            <a:solidFill>
              <a:srgbClr val="2E34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741230" y="2906757"/>
            <a:ext cx="42996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F24F"/>
              </a:buClr>
              <a:buSzPts val="900"/>
              <a:buFont typeface="IBM Plex Mono"/>
              <a:buNone/>
            </a:pPr>
            <a:r>
              <a:rPr lang="en" sz="900" b="1" i="0" u="none" strike="noStrike" cap="none">
                <a:solidFill>
                  <a:srgbClr val="D9F24F"/>
                </a:solidFill>
                <a:latin typeface="Roboto"/>
                <a:ea typeface="Roboto"/>
                <a:cs typeface="Roboto"/>
                <a:sym typeface="Roboto"/>
              </a:rPr>
              <a:t>EXAMPLE PROMPT</a:t>
            </a:r>
            <a:endParaRPr sz="9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741230" y="3141157"/>
            <a:ext cx="3908700" cy="757800"/>
          </a:xfrm>
          <a:prstGeom prst="roundRect">
            <a:avLst>
              <a:gd name="adj" fmla="val 7543"/>
            </a:avLst>
          </a:prstGeom>
          <a:solidFill>
            <a:srgbClr val="101312"/>
          </a:solidFill>
          <a:ln w="4775" cap="flat" cmpd="sng">
            <a:solidFill>
              <a:srgbClr val="2E34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896239" y="3277116"/>
            <a:ext cx="37161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14954"/>
              </a:lnSpc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1300"/>
              <a:buFont typeface="IBM Plex Mono"/>
              <a:buNone/>
            </a:pPr>
            <a:r>
              <a:rPr lang="en" sz="1300">
                <a:solidFill>
                  <a:srgbClr val="F4F3EF"/>
                </a:solidFill>
                <a:highlight>
                  <a:srgbClr val="101312"/>
                </a:highlight>
                <a:latin typeface="Roboto"/>
                <a:ea typeface="Roboto"/>
                <a:cs typeface="Roboto"/>
                <a:sym typeface="Roboto"/>
              </a:rPr>
              <a:t>"Alice — met at CS orientation, works in ML."</a:t>
            </a:r>
            <a:endParaRPr sz="1300">
              <a:solidFill>
                <a:srgbClr val="F4F3EF"/>
              </a:solidFill>
              <a:highlight>
                <a:srgbClr val="101312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4954"/>
              </a:lnSpc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1300"/>
              <a:buFont typeface="IBM Plex Mono"/>
              <a:buNone/>
            </a:pPr>
            <a:endParaRPr sz="1300">
              <a:solidFill>
                <a:srgbClr val="F4F3EF"/>
              </a:solidFill>
              <a:highlight>
                <a:srgbClr val="101312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000591" y="2347839"/>
            <a:ext cx="3619500" cy="2367000"/>
          </a:xfrm>
          <a:prstGeom prst="roundRect">
            <a:avLst>
              <a:gd name="adj" fmla="val 3219"/>
            </a:avLst>
          </a:prstGeom>
          <a:solidFill>
            <a:srgbClr val="D9F24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210129" y="2879531"/>
            <a:ext cx="3520500" cy="2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1E"/>
              </a:buClr>
              <a:buSzPts val="1300"/>
              <a:buFont typeface="Space Grotesk"/>
              <a:buNone/>
            </a:pPr>
            <a:r>
              <a:rPr lang="en" sz="1300" b="1" i="0" u="none" strike="noStrike" cap="none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Why GenAI is essential</a:t>
            </a:r>
            <a:endParaRPr sz="13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986325" y="3175579"/>
            <a:ext cx="3520500" cy="10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457200" marR="0" lvl="0" indent="-292100" algn="l" rtl="0">
              <a:lnSpc>
                <a:spcPct val="126330"/>
              </a:lnSpc>
              <a:spcBef>
                <a:spcPts val="0"/>
              </a:spcBef>
              <a:spcAft>
                <a:spcPts val="0"/>
              </a:spcAft>
              <a:buClr>
                <a:srgbClr val="15211E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Facial embeddings enable recognition, not just detection</a:t>
            </a:r>
            <a:endParaRPr sz="1000">
              <a:solidFill>
                <a:srgbClr val="15211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292100" algn="l" rtl="0">
              <a:lnSpc>
                <a:spcPct val="126330"/>
              </a:lnSpc>
              <a:spcBef>
                <a:spcPts val="0"/>
              </a:spcBef>
              <a:spcAft>
                <a:spcPts val="0"/>
              </a:spcAft>
              <a:buClr>
                <a:srgbClr val="15211E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LLM turns raw notes into a natural, ready-to-read reminder</a:t>
            </a:r>
            <a:endParaRPr sz="1000">
              <a:solidFill>
                <a:srgbClr val="15211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292100" algn="l" rtl="0">
              <a:lnSpc>
                <a:spcPct val="126330"/>
              </a:lnSpc>
              <a:spcBef>
                <a:spcPts val="0"/>
              </a:spcBef>
              <a:spcAft>
                <a:spcPts val="0"/>
              </a:spcAft>
              <a:buClr>
                <a:srgbClr val="15211E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Threshold-based matching avoids false-positive spam</a:t>
            </a:r>
            <a:endParaRPr sz="1000">
              <a:solidFill>
                <a:srgbClr val="1521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/>
          <p:nvPr/>
        </p:nvSpPr>
        <p:spPr>
          <a:xfrm>
            <a:off x="523866" y="428614"/>
            <a:ext cx="89058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6"/>
              </a:buClr>
              <a:buSzPts val="900"/>
              <a:buFont typeface="IBM Plex Mono"/>
              <a:buNone/>
            </a:pPr>
            <a:r>
              <a:rPr lang="en" sz="900" i="0" u="none" strike="noStrike" cap="none">
                <a:solidFill>
                  <a:srgbClr val="5B6B66"/>
                </a:solidFill>
                <a:latin typeface="Roboto"/>
                <a:ea typeface="Roboto"/>
                <a:cs typeface="Roboto"/>
                <a:sym typeface="Roboto"/>
              </a:rPr>
              <a:t>07 · MILESTONES &amp; NEXT STEPS</a:t>
            </a:r>
            <a:endParaRPr sz="9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523866" y="672512"/>
            <a:ext cx="89058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81851"/>
              </a:lnSpc>
              <a:spcBef>
                <a:spcPts val="0"/>
              </a:spcBef>
              <a:spcAft>
                <a:spcPts val="0"/>
              </a:spcAft>
              <a:buClr>
                <a:srgbClr val="15211E"/>
              </a:buClr>
              <a:buSzPts val="2900"/>
              <a:buFont typeface="Space Grotesk"/>
              <a:buNone/>
            </a:pPr>
            <a:r>
              <a:rPr lang="en" sz="2900" b="1" i="0" u="none" strike="noStrike" cap="none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Checkpoint 2: prove recognition works</a:t>
            </a:r>
            <a:endParaRPr sz="29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23875" y="1290650"/>
            <a:ext cx="2610000" cy="1740600"/>
          </a:xfrm>
          <a:prstGeom prst="roundRect">
            <a:avLst>
              <a:gd name="adj" fmla="val 2920"/>
            </a:avLst>
          </a:prstGeom>
          <a:solidFill>
            <a:srgbClr val="15211E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723867" y="1481115"/>
            <a:ext cx="24309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F24F"/>
              </a:buClr>
              <a:buSzPts val="900"/>
              <a:buFont typeface="IBM Plex Mono"/>
              <a:buNone/>
            </a:pPr>
            <a:r>
              <a:rPr lang="en" sz="900" b="1" i="0" u="none" strike="noStrike" cap="none">
                <a:solidFill>
                  <a:srgbClr val="D9F24F"/>
                </a:solidFill>
                <a:latin typeface="Roboto"/>
                <a:ea typeface="Roboto"/>
                <a:cs typeface="Roboto"/>
                <a:sym typeface="Roboto"/>
              </a:rPr>
              <a:t>VALIDATE NEXT</a:t>
            </a:r>
            <a:endParaRPr sz="9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455551" y="1705975"/>
            <a:ext cx="25443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457200" marR="0" lvl="0" indent="-292100" algn="l" rtl="0">
              <a:lnSpc>
                <a:spcPct val="126330"/>
              </a:lnSpc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CP2 validation</a:t>
            </a:r>
            <a:endParaRPr sz="1000">
              <a:solidFill>
                <a:srgbClr val="F4F3E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292100" algn="l" rtl="0">
              <a:lnSpc>
                <a:spcPct val="126330"/>
              </a:lnSpc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rgbClr val="F4F3EF"/>
                </a:solidFill>
                <a:latin typeface="Roboto"/>
                <a:ea typeface="Roboto"/>
                <a:cs typeface="Roboto"/>
                <a:sym typeface="Roboto"/>
              </a:rPr>
              <a:t>Test recognition accuracy and LLM response latency across 5+ enrolled people, varied lighting and angles.</a:t>
            </a:r>
            <a:endParaRPr sz="1000">
              <a:solidFill>
                <a:srgbClr val="F4F3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3267050" y="1290650"/>
            <a:ext cx="2610000" cy="1740600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7825" cap="flat" cmpd="sng">
            <a:solidFill>
              <a:srgbClr val="E2E1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3474887" y="1488940"/>
            <a:ext cx="24138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451F"/>
              </a:buClr>
              <a:buSzPts val="900"/>
              <a:buFont typeface="IBM Plex Mono"/>
              <a:buNone/>
            </a:pPr>
            <a:r>
              <a:rPr lang="en" sz="900" b="1" i="0" u="none" strike="noStrike" cap="none">
                <a:solidFill>
                  <a:srgbClr val="B0451F"/>
                </a:solidFill>
                <a:latin typeface="Roboto"/>
                <a:ea typeface="Roboto"/>
                <a:cs typeface="Roboto"/>
                <a:sym typeface="Roboto"/>
              </a:rPr>
              <a:t>BIGGEST UNKNOWNS</a:t>
            </a:r>
            <a:endParaRPr sz="9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3321274" y="1713800"/>
            <a:ext cx="24138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457200" marR="0" lvl="0" indent="-292100" algn="l" rtl="0">
              <a:lnSpc>
                <a:spcPct val="126330"/>
              </a:lnSpc>
              <a:spcBef>
                <a:spcPts val="0"/>
              </a:spcBef>
              <a:spcAft>
                <a:spcPts val="0"/>
              </a:spcAft>
              <a:buClr>
                <a:srgbClr val="3B4A46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False-match rate in real conditions, LLM latency versus a real-time feel, real hardware integration.</a:t>
            </a:r>
            <a:endParaRPr sz="1000">
              <a:solidFill>
                <a:srgbClr val="3B4A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6010250" y="1290650"/>
            <a:ext cx="2610000" cy="1740600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7825" cap="flat" cmpd="sng">
            <a:solidFill>
              <a:srgbClr val="E2E1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6218080" y="1488940"/>
            <a:ext cx="24138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6"/>
              </a:buClr>
              <a:buSzPts val="900"/>
              <a:buFont typeface="IBM Plex Mono"/>
              <a:buNone/>
            </a:pPr>
            <a:r>
              <a:rPr lang="en" sz="900" b="1" i="0" u="none" strike="noStrike" cap="none">
                <a:solidFill>
                  <a:srgbClr val="5B6B66"/>
                </a:solidFill>
                <a:latin typeface="Roboto"/>
                <a:ea typeface="Roboto"/>
                <a:cs typeface="Roboto"/>
                <a:sym typeface="Roboto"/>
              </a:rPr>
              <a:t>IMMEDIATE NEXT STEPS</a:t>
            </a:r>
            <a:endParaRPr sz="9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6047375" y="1713800"/>
            <a:ext cx="24309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457200" marR="0" lvl="0" indent="-292100" algn="l" rtl="0">
              <a:lnSpc>
                <a:spcPct val="126330"/>
              </a:lnSpc>
              <a:spcBef>
                <a:spcPts val="0"/>
              </a:spcBef>
              <a:spcAft>
                <a:spcPts val="0"/>
              </a:spcAft>
              <a:buClr>
                <a:srgbClr val="3B4A46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rgbClr val="3B4A46"/>
                </a:solidFill>
                <a:latin typeface="Roboto"/>
                <a:ea typeface="Roboto"/>
                <a:cs typeface="Roboto"/>
                <a:sym typeface="Roboto"/>
              </a:rPr>
              <a:t>Finalize the prototype, begin user testing, and draft the ethics and consent framework.</a:t>
            </a:r>
            <a:endParaRPr sz="1000">
              <a:solidFill>
                <a:srgbClr val="3B4A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523854" y="3522773"/>
            <a:ext cx="8096400" cy="497700"/>
          </a:xfrm>
          <a:prstGeom prst="roundRect">
            <a:avLst>
              <a:gd name="adj" fmla="val 15307"/>
            </a:avLst>
          </a:prstGeom>
          <a:solidFill>
            <a:srgbClr val="D9F24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752426" y="3709772"/>
            <a:ext cx="123900" cy="123900"/>
          </a:xfrm>
          <a:prstGeom prst="ellipse">
            <a:avLst/>
          </a:prstGeom>
          <a:noFill/>
          <a:ln w="26075" cap="flat" cmpd="sng">
            <a:solidFill>
              <a:srgbClr val="1521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971460" y="3675168"/>
            <a:ext cx="46926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1E"/>
              </a:buClr>
              <a:buSzPts val="1200"/>
              <a:buFont typeface="Space Grotesk"/>
              <a:buNone/>
            </a:pPr>
            <a:r>
              <a:rPr lang="en" sz="1200" b="1" i="0" u="none" strike="noStrike" cap="none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ContextLens</a:t>
            </a:r>
            <a:r>
              <a:rPr lang="en" sz="1200" b="1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" sz="1200" b="1" i="0" u="none" strike="noStrike" cap="none">
                <a:solidFill>
                  <a:srgbClr val="15211E"/>
                </a:solidFill>
                <a:latin typeface="Roboto"/>
                <a:ea typeface="Roboto"/>
                <a:cs typeface="Roboto"/>
                <a:sym typeface="Roboto"/>
              </a:rPr>
              <a:t> remember people, keep humans in control.</a:t>
            </a:r>
            <a:endParaRPr sz="12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23838" y="3438602"/>
            <a:ext cx="8096400" cy="754800"/>
          </a:xfrm>
          <a:prstGeom prst="roundRect">
            <a:avLst>
              <a:gd name="adj" fmla="val 6705"/>
            </a:avLst>
          </a:prstGeom>
          <a:solidFill>
            <a:srgbClr val="15211E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9" name="Google Shape;209;p21"/>
          <p:cNvGrpSpPr/>
          <p:nvPr/>
        </p:nvGrpSpPr>
        <p:grpSpPr>
          <a:xfrm>
            <a:off x="752401" y="3502938"/>
            <a:ext cx="7832479" cy="543489"/>
            <a:chOff x="752439" y="3919613"/>
            <a:chExt cx="7832479" cy="648477"/>
          </a:xfrm>
        </p:grpSpPr>
        <p:sp>
          <p:nvSpPr>
            <p:cNvPr id="210" name="Google Shape;210;p21"/>
            <p:cNvSpPr/>
            <p:nvPr/>
          </p:nvSpPr>
          <p:spPr>
            <a:xfrm>
              <a:off x="752439" y="3974376"/>
              <a:ext cx="2127300" cy="14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D9F24F"/>
                </a:buClr>
                <a:buSzPts val="900"/>
                <a:buFont typeface="IBM Plex Mono"/>
                <a:buNone/>
              </a:pPr>
              <a:r>
                <a:rPr lang="en" sz="900" i="0" u="none" strike="noStrike" cap="none">
                  <a:solidFill>
                    <a:srgbClr val="D9F24F"/>
                  </a:solidFill>
                  <a:latin typeface="Roboto"/>
                  <a:ea typeface="Roboto"/>
                  <a:cs typeface="Roboto"/>
                  <a:sym typeface="Roboto"/>
                </a:rPr>
                <a:t>USER</a:t>
              </a:r>
              <a:endParaRPr sz="9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1" name="Google Shape;211;p21"/>
            <p:cNvSpPr/>
            <p:nvPr/>
          </p:nvSpPr>
          <p:spPr>
            <a:xfrm>
              <a:off x="752439" y="4149463"/>
              <a:ext cx="1992000" cy="33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t" anchorCtr="0">
              <a:noAutofit/>
            </a:bodyPr>
            <a:lstStyle/>
            <a:p>
              <a:pPr marL="0" marR="0" lvl="0" indent="0" algn="l" rtl="0">
                <a:lnSpc>
                  <a:spcPct val="106174"/>
                </a:lnSpc>
                <a:spcBef>
                  <a:spcPts val="0"/>
                </a:spcBef>
                <a:spcAft>
                  <a:spcPts val="0"/>
                </a:spcAft>
                <a:buClr>
                  <a:srgbClr val="F4F3EF"/>
                </a:buClr>
                <a:buSzPts val="1000"/>
                <a:buFont typeface="IBM Plex Sans"/>
                <a:buNone/>
              </a:pPr>
              <a:r>
                <a:rPr lang="en" sz="1000" b="1" i="0" u="none" strike="noStrike" cap="none">
                  <a:solidFill>
                    <a:srgbClr val="F4F3EF"/>
                  </a:solidFill>
                  <a:latin typeface="Roboto"/>
                  <a:ea typeface="Roboto"/>
                  <a:cs typeface="Roboto"/>
                  <a:sym typeface="Roboto"/>
                </a:rPr>
                <a:t>Employee mid-interaction, </a:t>
              </a:r>
              <a:br>
                <a:rPr lang="en" sz="1000" b="1" i="0" u="none" strike="noStrike" cap="none">
                  <a:solidFill>
                    <a:srgbClr val="F4F3E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000" b="1" i="0" u="none" strike="noStrike" cap="none">
                  <a:solidFill>
                    <a:srgbClr val="F4F3EF"/>
                  </a:solidFill>
                  <a:latin typeface="Roboto"/>
                  <a:ea typeface="Roboto"/>
                  <a:cs typeface="Roboto"/>
                  <a:sym typeface="Roboto"/>
                </a:rPr>
                <a:t>hands busy</a:t>
              </a:r>
              <a:endParaRPr sz="1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2" name="Google Shape;212;p21"/>
            <p:cNvSpPr/>
            <p:nvPr/>
          </p:nvSpPr>
          <p:spPr>
            <a:xfrm>
              <a:off x="2876877" y="4121378"/>
              <a:ext cx="310500" cy="2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D9F24F"/>
                </a:buClr>
                <a:buSzPts val="2000"/>
                <a:buFont typeface="Space Grotesk"/>
                <a:buNone/>
              </a:pPr>
              <a:r>
                <a:rPr lang="en" sz="2000" i="0" u="none" strike="noStrike" cap="none">
                  <a:solidFill>
                    <a:srgbClr val="D9F24F"/>
                  </a:solidFill>
                  <a:latin typeface="Roboto"/>
                  <a:ea typeface="Roboto"/>
                  <a:cs typeface="Roboto"/>
                  <a:sym typeface="Roboto"/>
                </a:rPr>
                <a:t>→</a:t>
              </a:r>
              <a:endPara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" name="Google Shape;213;p21"/>
            <p:cNvSpPr/>
            <p:nvPr/>
          </p:nvSpPr>
          <p:spPr>
            <a:xfrm>
              <a:off x="3299889" y="3919613"/>
              <a:ext cx="2765700" cy="14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D9F24F"/>
                </a:buClr>
                <a:buSzPts val="900"/>
                <a:buFont typeface="IBM Plex Mono"/>
                <a:buNone/>
              </a:pPr>
              <a:r>
                <a:rPr lang="en" sz="900" i="0" u="none" strike="noStrike" cap="none">
                  <a:solidFill>
                    <a:srgbClr val="D9F24F"/>
                  </a:solidFill>
                  <a:latin typeface="Roboto"/>
                  <a:ea typeface="Roboto"/>
                  <a:cs typeface="Roboto"/>
                  <a:sym typeface="Roboto"/>
                </a:rPr>
                <a:t>TASKS</a:t>
              </a:r>
              <a:endParaRPr sz="9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4" name="Google Shape;214;p21"/>
            <p:cNvSpPr/>
            <p:nvPr/>
          </p:nvSpPr>
          <p:spPr>
            <a:xfrm>
              <a:off x="3314951" y="4069191"/>
              <a:ext cx="2589600" cy="49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t" anchorCtr="0">
              <a:noAutofit/>
            </a:bodyPr>
            <a:lstStyle/>
            <a:p>
              <a:pPr marL="0" marR="0" lvl="0" indent="0" algn="l" rtl="0">
                <a:lnSpc>
                  <a:spcPct val="106174"/>
                </a:lnSpc>
                <a:spcBef>
                  <a:spcPts val="0"/>
                </a:spcBef>
                <a:spcAft>
                  <a:spcPts val="0"/>
                </a:spcAft>
                <a:buClr>
                  <a:srgbClr val="F4F3EF"/>
                </a:buClr>
                <a:buSzPts val="1000"/>
                <a:buFont typeface="IBM Plex Sans"/>
                <a:buNone/>
              </a:pPr>
              <a:r>
                <a:rPr lang="en" sz="1000" b="1" i="0" u="none" strike="noStrike" cap="none">
                  <a:solidFill>
                    <a:srgbClr val="F4F3EF"/>
                  </a:solidFill>
                  <a:latin typeface="Roboto"/>
                  <a:ea typeface="Roboto"/>
                  <a:cs typeface="Roboto"/>
                  <a:sym typeface="Roboto"/>
                </a:rPr>
                <a:t>1 · Recognize consented person </a:t>
              </a:r>
              <a:br>
                <a:rPr lang="en" sz="1000" b="1" i="0" u="none" strike="noStrike" cap="none">
                  <a:solidFill>
                    <a:srgbClr val="F4F3E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000" b="1" i="0" u="none" strike="noStrike" cap="none">
                  <a:solidFill>
                    <a:srgbClr val="F4F3EF"/>
                  </a:solidFill>
                  <a:latin typeface="Roboto"/>
                  <a:ea typeface="Roboto"/>
                  <a:cs typeface="Roboto"/>
                  <a:sym typeface="Roboto"/>
                </a:rPr>
                <a:t>2 · Retrieve approved context </a:t>
              </a:r>
              <a:br>
                <a:rPr lang="en" sz="1000" b="1" i="0" u="none" strike="noStrike" cap="none">
                  <a:solidFill>
                    <a:srgbClr val="F4F3E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000" b="1" i="0" u="none" strike="noStrike" cap="none">
                  <a:solidFill>
                    <a:srgbClr val="F4F3EF"/>
                  </a:solidFill>
                  <a:latin typeface="Roboto"/>
                  <a:ea typeface="Roboto"/>
                  <a:cs typeface="Roboto"/>
                  <a:sym typeface="Roboto"/>
                </a:rPr>
                <a:t>3 · Summarize the interaction</a:t>
              </a:r>
              <a:endParaRPr sz="1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" name="Google Shape;215;p21"/>
            <p:cNvSpPr/>
            <p:nvPr/>
          </p:nvSpPr>
          <p:spPr>
            <a:xfrm>
              <a:off x="6019543" y="4121378"/>
              <a:ext cx="310500" cy="2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D9F24F"/>
                </a:buClr>
                <a:buSzPts val="2000"/>
                <a:buFont typeface="Space Grotesk"/>
                <a:buNone/>
              </a:pPr>
              <a:r>
                <a:rPr lang="en" sz="2000" i="0" u="none" strike="noStrike" cap="none">
                  <a:solidFill>
                    <a:srgbClr val="D9F24F"/>
                  </a:solidFill>
                  <a:latin typeface="Roboto"/>
                  <a:ea typeface="Roboto"/>
                  <a:cs typeface="Roboto"/>
                  <a:sym typeface="Roboto"/>
                </a:rPr>
                <a:t>→</a:t>
              </a:r>
              <a:endPara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6457617" y="3974376"/>
              <a:ext cx="2127300" cy="14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D9F24F"/>
                </a:buClr>
                <a:buSzPts val="900"/>
                <a:buFont typeface="IBM Plex Mono"/>
                <a:buNone/>
              </a:pPr>
              <a:r>
                <a:rPr lang="en" sz="900" i="0" u="none" strike="noStrike" cap="none">
                  <a:solidFill>
                    <a:srgbClr val="D9F24F"/>
                  </a:solidFill>
                  <a:latin typeface="Roboto"/>
                  <a:ea typeface="Roboto"/>
                  <a:cs typeface="Roboto"/>
                  <a:sym typeface="Roboto"/>
                </a:rPr>
                <a:t>OUTCOME</a:t>
              </a:r>
              <a:endParaRPr sz="9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6457617" y="4149463"/>
              <a:ext cx="1992000" cy="33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t" anchorCtr="0">
              <a:noAutofit/>
            </a:bodyPr>
            <a:lstStyle/>
            <a:p>
              <a:pPr marL="0" marR="0" lvl="0" indent="0" algn="l" rtl="0">
                <a:lnSpc>
                  <a:spcPct val="106174"/>
                </a:lnSpc>
                <a:spcBef>
                  <a:spcPts val="0"/>
                </a:spcBef>
                <a:spcAft>
                  <a:spcPts val="0"/>
                </a:spcAft>
                <a:buClr>
                  <a:srgbClr val="F4F3EF"/>
                </a:buClr>
                <a:buSzPts val="1000"/>
                <a:buFont typeface="IBM Plex Sans"/>
                <a:buNone/>
              </a:pPr>
              <a:r>
                <a:rPr lang="en" sz="1000" b="1" i="0" u="none" strike="noStrike" cap="none">
                  <a:solidFill>
                    <a:srgbClr val="F4F3EF"/>
                  </a:solidFill>
                  <a:latin typeface="Roboto"/>
                  <a:ea typeface="Roboto"/>
                  <a:cs typeface="Roboto"/>
                  <a:sym typeface="Roboto"/>
                </a:rPr>
                <a:t>Personal service in &lt;2s, </a:t>
              </a:r>
              <a:br>
                <a:rPr lang="en" sz="1000" b="1" i="0" u="none" strike="noStrike" cap="none">
                  <a:solidFill>
                    <a:srgbClr val="F4F3E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000" b="1" i="0" u="none" strike="noStrike" cap="none">
                  <a:solidFill>
                    <a:srgbClr val="F4F3EF"/>
                  </a:solidFill>
                  <a:latin typeface="Roboto"/>
                  <a:ea typeface="Roboto"/>
                  <a:cs typeface="Roboto"/>
                  <a:sym typeface="Roboto"/>
                </a:rPr>
                <a:t>no broken flow</a:t>
              </a:r>
              <a:endParaRPr sz="1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1182</Words>
  <Application>Microsoft Office PowerPoint</Application>
  <PresentationFormat>On-screen Show (16:9)</PresentationFormat>
  <Paragraphs>139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Roboto</vt:lpstr>
      <vt:lpstr>IBM Plex Mono</vt:lpstr>
      <vt:lpstr>IBM Plex Sans</vt:lpstr>
      <vt:lpstr>Space Grotesk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AmanJoshi</dc:creator>
  <cp:lastModifiedBy>AmanJoshi</cp:lastModifiedBy>
  <cp:revision>1</cp:revision>
  <dcterms:modified xsi:type="dcterms:W3CDTF">2026-09-18T03:34:15Z</dcterms:modified>
</cp:coreProperties>
</file>